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93" r:id="rId1"/>
  </p:sldMasterIdLst>
  <p:sldIdLst>
    <p:sldId id="256" r:id="rId2"/>
    <p:sldId id="257" r:id="rId3"/>
    <p:sldId id="276" r:id="rId4"/>
    <p:sldId id="269" r:id="rId5"/>
    <p:sldId id="264" r:id="rId6"/>
    <p:sldId id="267" r:id="rId7"/>
    <p:sldId id="277" r:id="rId8"/>
    <p:sldId id="274" r:id="rId9"/>
    <p:sldId id="273" r:id="rId10"/>
    <p:sldId id="272" r:id="rId11"/>
    <p:sldId id="265" r:id="rId12"/>
    <p:sldId id="270" r:id="rId13"/>
    <p:sldId id="275" r:id="rId14"/>
    <p:sldId id="27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408" autoAdjust="0"/>
  </p:normalViewPr>
  <p:slideViewPr>
    <p:cSldViewPr snapToGrid="0">
      <p:cViewPr>
        <p:scale>
          <a:sx n="100" d="100"/>
          <a:sy n="100" d="100"/>
        </p:scale>
        <p:origin x="936"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8694636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1944589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2011428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2126728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2195490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987702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14231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ja-JP" altLang="en-US"/>
              <a:t>マスター タイトルの書式設定</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3192333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4169755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2650503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78301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1139307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0717199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ja-JP" altLang="en-US"/>
              <a:t>マスター タイトルの書式設定</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7902015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1144877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4214863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ja-JP" alt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DCF00BD-1168-4E9D-8CE7-0332C6AB0A70}" type="datetimeFigureOut">
              <a:rPr kumimoji="1" lang="ja-JP" altLang="en-US" smtClean="0"/>
              <a:t>2026/2/17</a:t>
            </a:fld>
            <a:endParaRPr kumimoji="1" lang="ja-JP" alt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A199FA3-BFD5-4FD1-8396-EF2A4CF6902E}" type="slidenum">
              <a:rPr kumimoji="1" lang="ja-JP" altLang="en-US" smtClean="0"/>
              <a:t>‹#›</a:t>
            </a:fld>
            <a:endParaRPr kumimoji="1" lang="ja-JP" altLang="en-US"/>
          </a:p>
        </p:txBody>
      </p:sp>
    </p:spTree>
    <p:extLst>
      <p:ext uri="{BB962C8B-B14F-4D97-AF65-F5344CB8AC3E}">
        <p14:creationId xmlns:p14="http://schemas.microsoft.com/office/powerpoint/2010/main" val="3957997316"/>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 id="2147483904" r:id="rId11"/>
    <p:sldLayoutId id="2147483905" r:id="rId12"/>
    <p:sldLayoutId id="2147483906" r:id="rId13"/>
    <p:sldLayoutId id="2147483907" r:id="rId14"/>
    <p:sldLayoutId id="2147483908" r:id="rId15"/>
    <p:sldLayoutId id="2147483909" r:id="rId16"/>
  </p:sldLayoutIdLst>
  <p:txStyles>
    <p:titleStyle>
      <a:lvl1pPr algn="l" defTabSz="457200" rtl="0" eaLnBrk="1" latinLnBrk="0" hangingPunct="1">
        <a:spcBef>
          <a:spcPct val="0"/>
        </a:spcBef>
        <a:buNone/>
        <a:defRPr kumimoji="1" sz="3600" kern="1200">
          <a:solidFill>
            <a:schemeClr val="accent1"/>
          </a:solidFill>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kumimoji="1"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kumimoji="1"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kumimoji="1"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kumimoji="1"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B0B2EB-A16B-A892-BCC5-EB58EEB8A007}"/>
              </a:ext>
            </a:extLst>
          </p:cNvPr>
          <p:cNvSpPr>
            <a:spLocks noGrp="1"/>
          </p:cNvSpPr>
          <p:nvPr>
            <p:ph type="ctrTitle"/>
          </p:nvPr>
        </p:nvSpPr>
        <p:spPr>
          <a:xfrm>
            <a:off x="1507066" y="1397000"/>
            <a:ext cx="8915399" cy="2653836"/>
          </a:xfrm>
        </p:spPr>
        <p:txBody>
          <a:bodyPr>
            <a:normAutofit/>
          </a:bodyPr>
          <a:lstStyle/>
          <a:p>
            <a:r>
              <a:rPr lang="ja-JP" altLang="en-US"/>
              <a:t>短い楽曲フレーズにおける</a:t>
            </a:r>
            <a:r>
              <a:rPr kumimoji="1" lang="ja-JP" altLang="en-US"/>
              <a:t>感情測定</a:t>
            </a:r>
          </a:p>
        </p:txBody>
      </p:sp>
      <p:sp>
        <p:nvSpPr>
          <p:cNvPr id="3" name="字幕 2">
            <a:extLst>
              <a:ext uri="{FF2B5EF4-FFF2-40B4-BE49-F238E27FC236}">
                <a16:creationId xmlns:a16="http://schemas.microsoft.com/office/drawing/2014/main" id="{CB38CCDC-1B44-3786-FD9E-B7215BD0748B}"/>
              </a:ext>
            </a:extLst>
          </p:cNvPr>
          <p:cNvSpPr>
            <a:spLocks noGrp="1"/>
          </p:cNvSpPr>
          <p:nvPr>
            <p:ph type="subTitle" idx="1"/>
          </p:nvPr>
        </p:nvSpPr>
        <p:spPr/>
        <p:txBody>
          <a:bodyPr>
            <a:normAutofit/>
          </a:bodyPr>
          <a:lstStyle/>
          <a:p>
            <a:r>
              <a:rPr kumimoji="1" lang="en-US" altLang="ja-JP" sz="3600" dirty="0"/>
              <a:t>230024</a:t>
            </a:r>
            <a:r>
              <a:rPr kumimoji="1" lang="ja-JP" altLang="en-US" sz="3600" dirty="0"/>
              <a:t>　時永洋輔</a:t>
            </a:r>
          </a:p>
        </p:txBody>
      </p:sp>
    </p:spTree>
    <p:extLst>
      <p:ext uri="{BB962C8B-B14F-4D97-AF65-F5344CB8AC3E}">
        <p14:creationId xmlns:p14="http://schemas.microsoft.com/office/powerpoint/2010/main" val="419754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58DCF9-FE59-CD00-A7D4-748E74EAB7CB}"/>
              </a:ext>
            </a:extLst>
          </p:cNvPr>
          <p:cNvSpPr>
            <a:spLocks noGrp="1"/>
          </p:cNvSpPr>
          <p:nvPr>
            <p:ph type="title"/>
          </p:nvPr>
        </p:nvSpPr>
        <p:spPr>
          <a:xfrm>
            <a:off x="677334" y="609600"/>
            <a:ext cx="8596668" cy="1320800"/>
          </a:xfrm>
        </p:spPr>
        <p:txBody>
          <a:bodyPr anchor="t">
            <a:normAutofit/>
          </a:bodyPr>
          <a:lstStyle/>
          <a:p>
            <a:pPr algn="ctr"/>
            <a:r>
              <a:rPr lang="ja-JP" altLang="en-US" sz="5400" dirty="0"/>
              <a:t>概要</a:t>
            </a:r>
            <a:endParaRPr kumimoji="1" lang="ja-JP" altLang="en-US" sz="5400" dirty="0"/>
          </a:p>
        </p:txBody>
      </p:sp>
      <p:sp>
        <p:nvSpPr>
          <p:cNvPr id="3" name="コンテンツ プレースホルダー 2">
            <a:extLst>
              <a:ext uri="{FF2B5EF4-FFF2-40B4-BE49-F238E27FC236}">
                <a16:creationId xmlns:a16="http://schemas.microsoft.com/office/drawing/2014/main" id="{612D6310-FE04-DE1A-B9A2-AC330D88049B}"/>
              </a:ext>
            </a:extLst>
          </p:cNvPr>
          <p:cNvSpPr>
            <a:spLocks noGrp="1"/>
          </p:cNvSpPr>
          <p:nvPr>
            <p:ph idx="1"/>
          </p:nvPr>
        </p:nvSpPr>
        <p:spPr>
          <a:xfrm>
            <a:off x="841179" y="1930400"/>
            <a:ext cx="2934714" cy="4336464"/>
          </a:xfrm>
        </p:spPr>
        <p:txBody>
          <a:bodyPr>
            <a:normAutofit fontScale="70000" lnSpcReduction="20000"/>
          </a:bodyPr>
          <a:lstStyle/>
          <a:p>
            <a:pPr marL="0" indent="0">
              <a:buNone/>
            </a:pPr>
            <a:r>
              <a:rPr kumimoji="1" lang="ja-JP" altLang="en-US" sz="4000" dirty="0"/>
              <a:t>　</a:t>
            </a:r>
            <a:r>
              <a:rPr lang="en-US" altLang="ja-JP" sz="4000" dirty="0" err="1"/>
              <a:t>MusicXML</a:t>
            </a:r>
            <a:r>
              <a:rPr lang="ja-JP" altLang="en-US" sz="4000" dirty="0"/>
              <a:t>から音楽特徴を抽出し、</a:t>
            </a:r>
            <a:r>
              <a:rPr lang="en-US" altLang="ja-JP" sz="4000" dirty="0" err="1"/>
              <a:t>LightGBM</a:t>
            </a:r>
            <a:r>
              <a:rPr lang="ja-JP" altLang="en-US" sz="4000" dirty="0"/>
              <a:t>を用いて感情分類を行う。</a:t>
            </a:r>
            <a:endParaRPr lang="en-US" altLang="ja-JP" sz="4000" dirty="0"/>
          </a:p>
          <a:p>
            <a:pPr marL="0" indent="0">
              <a:buNone/>
            </a:pPr>
            <a:r>
              <a:rPr kumimoji="1" lang="ja-JP" altLang="en-US" sz="4000" dirty="0"/>
              <a:t>　</a:t>
            </a:r>
            <a:r>
              <a:rPr lang="en-US" altLang="ja-JP" sz="4000" dirty="0"/>
              <a:t>Unity</a:t>
            </a:r>
            <a:r>
              <a:rPr lang="ja-JP" altLang="en-US" sz="4000" dirty="0"/>
              <a:t>と</a:t>
            </a:r>
            <a:r>
              <a:rPr lang="en-US" altLang="ja-JP" sz="4000" dirty="0"/>
              <a:t>Python</a:t>
            </a:r>
            <a:r>
              <a:rPr lang="ja-JP" altLang="en-US" sz="4000" dirty="0"/>
              <a:t>を連携し、判定結果をゲーム内ヒントとして利用する。</a:t>
            </a:r>
            <a:endParaRPr kumimoji="1" lang="en-US" altLang="ja-JP" sz="4000" dirty="0"/>
          </a:p>
          <a:p>
            <a:pPr marL="0" indent="0">
              <a:buNone/>
            </a:pPr>
            <a:endParaRPr kumimoji="1" lang="en-US" altLang="ja-JP" dirty="0"/>
          </a:p>
        </p:txBody>
      </p:sp>
      <p:pic>
        <p:nvPicPr>
          <p:cNvPr id="5" name="図 4">
            <a:extLst>
              <a:ext uri="{FF2B5EF4-FFF2-40B4-BE49-F238E27FC236}">
                <a16:creationId xmlns:a16="http://schemas.microsoft.com/office/drawing/2014/main" id="{3A594733-A0AE-E6C5-688D-367ACF0D7F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9738" y="1930401"/>
            <a:ext cx="8143597" cy="4336463"/>
          </a:xfrm>
          <a:prstGeom prst="rect">
            <a:avLst/>
          </a:prstGeom>
        </p:spPr>
      </p:pic>
    </p:spTree>
    <p:extLst>
      <p:ext uri="{BB962C8B-B14F-4D97-AF65-F5344CB8AC3E}">
        <p14:creationId xmlns:p14="http://schemas.microsoft.com/office/powerpoint/2010/main" val="4212395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BA0117-4C7B-BB15-0C22-5612A307316F}"/>
              </a:ext>
            </a:extLst>
          </p:cNvPr>
          <p:cNvSpPr>
            <a:spLocks noGrp="1"/>
          </p:cNvSpPr>
          <p:nvPr>
            <p:ph type="title"/>
          </p:nvPr>
        </p:nvSpPr>
        <p:spPr>
          <a:xfrm>
            <a:off x="1797666" y="499291"/>
            <a:ext cx="8596668" cy="1320800"/>
          </a:xfrm>
        </p:spPr>
        <p:txBody>
          <a:bodyPr>
            <a:normAutofit/>
          </a:bodyPr>
          <a:lstStyle/>
          <a:p>
            <a:pPr algn="ctr"/>
            <a:r>
              <a:rPr kumimoji="1" lang="ja-JP" altLang="en-US" sz="5400" dirty="0"/>
              <a:t>目的</a:t>
            </a:r>
          </a:p>
        </p:txBody>
      </p:sp>
      <p:sp>
        <p:nvSpPr>
          <p:cNvPr id="10" name="テキスト ボックス 9">
            <a:extLst>
              <a:ext uri="{FF2B5EF4-FFF2-40B4-BE49-F238E27FC236}">
                <a16:creationId xmlns:a16="http://schemas.microsoft.com/office/drawing/2014/main" id="{702114D7-7077-92F9-BFD8-8699D92DC717}"/>
              </a:ext>
            </a:extLst>
          </p:cNvPr>
          <p:cNvSpPr txBox="1"/>
          <p:nvPr/>
        </p:nvSpPr>
        <p:spPr>
          <a:xfrm>
            <a:off x="1257300" y="2076450"/>
            <a:ext cx="8734425" cy="3416320"/>
          </a:xfrm>
          <a:prstGeom prst="rect">
            <a:avLst/>
          </a:prstGeom>
          <a:noFill/>
        </p:spPr>
        <p:txBody>
          <a:bodyPr wrap="square" rtlCol="0">
            <a:spAutoFit/>
          </a:bodyPr>
          <a:lstStyle/>
          <a:p>
            <a:pPr marL="285750" lvl="0" indent="-285750" fontAlgn="ctr">
              <a:buFont typeface="Arial" panose="020B0604020202020204" pitchFamily="34" charset="0"/>
              <a:buChar char="•"/>
              <a:defRPr/>
            </a:pPr>
            <a:r>
              <a:rPr lang="ja-JP" altLang="en-US" sz="3600" dirty="0"/>
              <a:t>音楽の印象は主観的なため、感情分類モデルを使い音楽の印象を判定したい</a:t>
            </a:r>
            <a:endParaRPr lang="en-US" altLang="ja-JP" sz="3600" dirty="0"/>
          </a:p>
          <a:p>
            <a:pPr marL="285750" indent="-285750" fontAlgn="ctr">
              <a:buFont typeface="Arial" panose="020B0604020202020204" pitchFamily="34" charset="0"/>
              <a:buChar char="•"/>
              <a:defRPr/>
            </a:pPr>
            <a:r>
              <a:rPr lang="ja-JP" altLang="en-US" sz="3600" dirty="0"/>
              <a:t>判定結果をゲーム内ヒントとして使用し、ゲームと音楽分析を合わせた物をつくりたい。</a:t>
            </a:r>
            <a:endParaRPr lang="en-US" altLang="ja-JP" sz="3600" dirty="0"/>
          </a:p>
          <a:p>
            <a:pPr marL="285750" indent="-285750" fontAlgn="ctr">
              <a:buFont typeface="Arial" panose="020B0604020202020204" pitchFamily="34" charset="0"/>
              <a:buChar char="•"/>
              <a:defRPr/>
            </a:pPr>
            <a:r>
              <a:rPr lang="ja-JP" altLang="en-US" sz="3600" dirty="0"/>
              <a:t>どのような環境でも動くものにしたい</a:t>
            </a:r>
          </a:p>
        </p:txBody>
      </p:sp>
    </p:spTree>
    <p:extLst>
      <p:ext uri="{BB962C8B-B14F-4D97-AF65-F5344CB8AC3E}">
        <p14:creationId xmlns:p14="http://schemas.microsoft.com/office/powerpoint/2010/main" val="849406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C29C9D-8397-D6AC-3B4D-BABDBD569E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09B2CF8-2C61-A81C-135B-2C2DC9DBE9EB}"/>
              </a:ext>
            </a:extLst>
          </p:cNvPr>
          <p:cNvSpPr>
            <a:spLocks noGrp="1"/>
          </p:cNvSpPr>
          <p:nvPr>
            <p:ph type="title"/>
          </p:nvPr>
        </p:nvSpPr>
        <p:spPr>
          <a:xfrm>
            <a:off x="1399789" y="648587"/>
            <a:ext cx="9392421" cy="1330841"/>
          </a:xfrm>
        </p:spPr>
        <p:txBody>
          <a:bodyPr>
            <a:normAutofit/>
          </a:bodyPr>
          <a:lstStyle/>
          <a:p>
            <a:pPr algn="ctr"/>
            <a:r>
              <a:rPr lang="ja-JP" altLang="en-US" sz="5400" dirty="0"/>
              <a:t>システム概要</a:t>
            </a:r>
            <a:endParaRPr kumimoji="1" lang="ja-JP" altLang="en-US" sz="5400" dirty="0"/>
          </a:p>
        </p:txBody>
      </p:sp>
      <p:sp>
        <p:nvSpPr>
          <p:cNvPr id="3" name="コンテンツ プレースホルダー 2">
            <a:extLst>
              <a:ext uri="{FF2B5EF4-FFF2-40B4-BE49-F238E27FC236}">
                <a16:creationId xmlns:a16="http://schemas.microsoft.com/office/drawing/2014/main" id="{9C1FCCE2-D79F-4BB1-54CF-F8E2C22DF815}"/>
              </a:ext>
            </a:extLst>
          </p:cNvPr>
          <p:cNvSpPr>
            <a:spLocks noGrp="1"/>
          </p:cNvSpPr>
          <p:nvPr>
            <p:ph idx="1"/>
          </p:nvPr>
        </p:nvSpPr>
        <p:spPr>
          <a:xfrm>
            <a:off x="328731" y="2117558"/>
            <a:ext cx="6809187" cy="3917773"/>
          </a:xfrm>
        </p:spPr>
        <p:txBody>
          <a:bodyPr>
            <a:normAutofit fontScale="92500" lnSpcReduction="20000"/>
          </a:bodyPr>
          <a:lstStyle/>
          <a:p>
            <a:pPr marL="0" indent="0">
              <a:buNone/>
            </a:pPr>
            <a:r>
              <a:rPr lang="ja-JP" altLang="en-US" sz="3200" dirty="0"/>
              <a:t>　ゲーム内に６種のヒントを選択できるトグルボタンを配置。</a:t>
            </a:r>
            <a:endParaRPr lang="en-US" altLang="ja-JP" sz="3200" dirty="0"/>
          </a:p>
          <a:p>
            <a:pPr marL="0" indent="0">
              <a:buNone/>
            </a:pPr>
            <a:endParaRPr lang="en-US" altLang="ja-JP" sz="3200" dirty="0"/>
          </a:p>
          <a:p>
            <a:pPr marL="0" indent="0">
              <a:buNone/>
            </a:pPr>
            <a:r>
              <a:rPr lang="ja-JP" altLang="en-US" sz="3200" dirty="0"/>
              <a:t>　楽譜配置を押すとテンプレートとタグが等しい楽曲からランダムに選び</a:t>
            </a:r>
            <a:endParaRPr lang="en-US" altLang="ja-JP" sz="3200" dirty="0"/>
          </a:p>
          <a:p>
            <a:pPr marL="0" indent="0">
              <a:buNone/>
            </a:pPr>
            <a:r>
              <a:rPr lang="ja-JP" altLang="en-US" sz="3200" dirty="0"/>
              <a:t>配置する。</a:t>
            </a:r>
            <a:endParaRPr lang="en-US" altLang="ja-JP" sz="3200" dirty="0"/>
          </a:p>
          <a:p>
            <a:pPr marL="0" indent="0">
              <a:buNone/>
            </a:pPr>
            <a:r>
              <a:rPr lang="ja-JP" altLang="en-US" sz="3200" dirty="0"/>
              <a:t>　再生＆判定を押すと五線譜に従い</a:t>
            </a:r>
            <a:r>
              <a:rPr lang="en-US" altLang="ja-JP" sz="3200" dirty="0"/>
              <a:t>XML</a:t>
            </a:r>
            <a:r>
              <a:rPr lang="ja-JP" altLang="en-US" sz="3200" dirty="0"/>
              <a:t>ファイルの生成と再生、それの判定を行う。</a:t>
            </a:r>
            <a:r>
              <a:rPr lang="ja-JP" altLang="en-US" sz="2000" dirty="0"/>
              <a:t>　　　　　　　　　　　　　　　　　　　　　　　　　　　　　　　　　　　　　　　　　　　　　　　　　　　　　　　　　　　　　　　　　　　　　　　　　　　　　　　　　　　　　　　　　　　　　　　　　　　　　　　　　　　　　　　　　　　　　　　　　　　　　　　　　　　　　　　　　　　　　　　　　　　　　　　　　　　　　　　　　　　　　　　　　　　　　　　　　　　　　　　　　　　　　　　　　　　　　　　　　　　　　　　　　　　　　　　　　　　　　　　　　　　　　　　　　　　　　　　　　　　　　　　　　　　　　　　　　　　　　　　　　　　　　　　　　　　　　　　　　　　　　　　　　　　　　　　　　　　　　　　　　　　　　　　　　　　　　　　　　　　　　　　　　　　　　　　　　　　　　　　　　　　　　　　　　　　　　　　　　　　　　　　　　　　　　　　　　　　　　　　　　　　　　　　　　　　　　　　　　　　　　　　　　　　　　　　　　　　　　　　　　　　　　　　　　　　　　　　　　　　　　　　　　　　　　　　　　　　　　　　　　　　　　　　　　　　　　　　　　　　　　　　　　　　　　　　　　　　　　　　　　　　　　　　　　　　　　　　　　　　　　　　　　　　　　　　　　　　　　　　　　　　　　　　　　　　　　　　　　　　　　　　　　　　　　　　　　　　　　　　　　　　　　　　　　　　　　　　　　　　　　　　　　　　　　　　　　　　　　　　　　　　　　　　　　　　　　　　　　　　　　　　　　　　　　　　　　　　　　　　　　　　　　　　　　　　　　　　　　　　　　　　　　　　　　　　　　　　　　　　　　　　　　　　　　　　　　　　　　　　　　　　　　　　　　　　　　　　　　　　　　　　　　　　　　　　　　　　　　　　　　　　　　　　　　　　　　　　　　　　　　　　　　　　　　　　　　　　　　　　　　　　　　　　　　　　　　　　　　　　　　　　　　　　　　　　　　　　　　　　　　　　　　　　　　　　　　　　　　　　　　　　　　　　　　　　　　　　　　　　　　　　　　　　　　　　　　　　　　　　　　　　　　　　　　　　　　　　　　　　　　　　　　　　　　　　　　　　　　　　　　　　　　　　　　　　　　　　　　　　　　　　　　　　　　　　　　　　　　　　　　　　　　　　　　　　　　　　　　　　　　　　　　　　　　　　　　　　　　　　　　　　　　　　　　　　　　　　　　　　　　　　　　　　　　　　　　　　　　　　　　　　　　　　　　　　　　　　　　　　　　　　　　　　　　　　　　　　　　　　　　　　　　　　　　　　　　　　　　　　　　　　　　　　　　　　　　　　　　　　　　　　　　　　　　　　　　　　　　　　　　　　　　　　　　　　　　　　　　　　　　　　　　　　　　　　　　　　　　　　　　　　　　　　　　　　　　　　　　　　　　　　　　　　　　　　　　　　　　　　　　　　　　　　　　　　　　　　　　　　　　　　　　　　　　　　　　　　　　　　　　　　　　　　　　　　　　　　　　　　　　　　　　　　　　　　　　　　　　　　　　　　　　　　　　　　　　　　　　　　　　　　　　　　　　　　　　　　　　　　　　　　　　　　　　　　　　　　　　　　　　　　　　　　　　　　　　　　　　　　　　　　　　　　　　　　　　　　　　　　　　　　　　　　　　　　　　　　　　　　　　　　　　　　　　　　　　　　　　　　　　　　　　　　　　　　　　　　　　　　　　　　　　　　　　　　　　　　　　　　　　　　　　　　　　　　　　　　　　　　　　　　　　　　　　　　　　　　　　　　　　　　　　　　　　　　　　　　　　　　　　　　　　　　　　　　　　　　　　　　　　　　　　　　　　　　　　　　　　　　　　　　　　　　　　　　　　　　　　　　　　　　　　　　　　　　　　　　　　　　　　　　　　　　　　　　　　　　　　　　　　　　　　　　　　　　　　　　　　　　　　　　　　　　　　　　　　　　　　　　　　　　　　　　　　　　　　　　　　　　　　　　　　　　　　　　　　　　　　　　　　　　　　　　　　　　　　　　　　　　　　　　　　　　　　　　　　　　　　　　　　　　　　　　　　　　　　　　　　　　　　　　　　　　　　　　　　　　　　　　　　　　　　　　　　　　　　　　　　　　　　　　　　　　　　　　　　　　　　　　　　　　　　　　　　　　　　　　　　　　　　　　　　　　　　　　　　　　　　　　　　　　　　　　　　　　　　　　　　　　　　　　　　　　　　　　　　　　　　　　　　　　　　　　　　　　　　　　　　　　　　　　　　　　　　　　　　　　　　　　　　　　　　　　　　　　　　　　　　　　　　　　　　　　　　　　　　　　　　　　　　　　　　　　　　　　　　　　　　　　　　　　　　　　　　　　　　　　　　　　　　　　　　　　　　　　　　　　　　　　　　　　　　　　　　　　　　　　　　　　　　　　　　　　　　　　　　　　　　　　　　　　　　　　　　　　　　　　　　　　　　　　　　　　　　　　　　　　　　　　　　　　　　　　　　　　　　　　　　　　　　　　　　　　　　　　　　　　　　　　　　　　　　　　　　　　　　　　　　　　　　　　　　　　　　　　　　　　　　　　　　　　　　　　　　　　　　　　　　　　　　　　　　　　　　　　　　　　　　　　　　　　　　　　　　　　　　　　　　　　　　　　　　　　　　　　　　　　　　　　　　　　　　　　　　　　　　　　　　　　　　　　　　　　　　　　　　　　　　　　　　　　　　　　　　　　　　　　　　　　　　　　　　　　　　　　　　　　　　　　　　　　　　　　　　　　　　　　　　　　　　　　　　　　　　　　　　　　　　　　　　　　　　　　　　　　　　　　　　　　　　　　　　　　　　　　　　　　　　　　　　　　　　　　　　　　　　　　　　　　　　　　　　　　　　　　　　　　　　　　　　　　　　　　　　　　　　　　　　　　　　　　　　　　　　　　　　　　　　　　　　　　　　　　　　　　　　　　　　　　　　　　　　　　　　　　　　　　　　　　　　　　　　　　　　　　　　　　　　　　　　　　　　　　　　　　　　　　　　　　　　　　　　　　　　　　　　　　　　　　　　　　　　　　　　　　　　　　　　　　　　　　　　　　　　　　　　　　　　　　　　　　　　　　　　　　　　　　　　　　　　　　　　　　　　　　　　　　　　　　　　　　　　　　　　　　　　　　　　　　　　　　　　　　　　　　　　　　　　　　　　　　　　　　　　　　　　　　　　　　　　　　　　　　　　　　　　　　　　　　　　　　　　　　　　　　　　　　　　　　　　　　　　　　　　　　　　　　　　　　　　　　　　　　　　　　　　　　　　　　　　　　　　　　　　　　　　　　　　　　　　　　　　　　　　　　　　　　　　　　　　　　　　　　　　　　　　　　　　　　　　　　　　　　　　　　　　　　　　　　　　　　　　　　　　　　　　　　　　　　　　　　　　　　　　　　　　　　　　　　　　　　　　　　　　　　　　　　　　　　　　　　　　　　　　　　　　　　　　　　　　　　　　　　　　　　　　　　　　　　　　　　　　　　　　　　　　　　　　　　　　　　　　　　　　　　　　　　　　　　　　　　　　　　　　　　　　　　　　　　　　　　　　　　　　　　　　　　　　　　　　　　　　　　　　　　　　　　　　　　　　　　　　　　　　　　　　　　　　　　　　　　　　　　　　　　　　　　　　　　　　　　　　　　　　　　　　　　　　　　　　　　　　　　　　　　　　　　　　　　　　　　　　　　　　　　　　　　　　　　　　　　　　　　　　　　　　　　　　　　　　　　　　　　　　　　　　　　　　　　　　　　　　　　　　　　　　　　　　　　　　　　　　　　　　　　　　　　　　　　　　　　　　　　　　　　　　　　　　　　　　　　　　　　　　　　　　　　　　　　　　　　　　　　　　　　　　　　　　　　　　　　　　　　　　　　　　　　　　　　　　　　　　　　　　　　　　　　　　　　　　　　　　　　　　　　　　　　　　　　　　　　　　　　　　　　　　　　　　　　　　　　　　　　　　　　　　　　　　　　　　　　　　　　　　　　　　　　　　　　　　　　　　　　　　　　　　　　　　　　　　　　　　　　　　　　　　　　　　　　　　　　　　　　　　　　　　　　　　　　　　　　　　　　　　　　　　　　　　　　　　　　　　　　　　　　　　　　　　　　　　　　　　　　　　　　　　　　　　　　　　　　　　　　　　　　　　　　　　　　　　　　　　　　　　　　　　　　　　　　　　　　　　　　　　　　　　　　　　　　　　　　　　　　　　　　　　　　　　　　　　　　　　　　　　　　　　　　　　　　　　　　　　　　　　　　　　　　　　　　　　　　　　　　　　　　　　　　　　　　　　　　　　　　　　　　　　　　　　　　　　　　　　　　　　　　　　　　　　　　　　　　　　　　　　　　　　　　　　　　　　　　　　　　　　　　　　　　　　　　　　　　　　　　　　　　　　　　　　　　　　　　　　　　　　　　　　　　　　　　　　　　　　　　　　　　　　　　　　　　　　　　　　　　　　　　　　　　　　　　　　　　　　　　　　　　　　　　　　　　　　　　　　　　　　　　　　　　　　　　　　　　　　　　　　　　　　　　　　　　　　　　　　　　　　　　　　　　　　　　　　　　　　　　　　　　　　　　　　　　　　　　　　　　　　　　　　　　　　　　　　　　　　　　　　　　　　　　　　　　　　　　　　　　　　　　　　　　　　　　　　　　　　　　　　　　　　　　　　　　　　　　　　　　　　　　　　　　　　　　　　　　　　　　　　　　　　　　　　　　　　　　　　　　　　　　　　　　　　　　　　　　　　　　　　　　　　　　　　　　　　　　　　　　　　　　　　　　　　　　　　　　　　　　　　　　　　　　　　　　　　　　　　　　　　　　　　　　　　　　　　　　　　　　　　　　　　　　　　　　　　　　　　　　　　　　　　　　　　　　　　　　　　　　　　　　　　　　　　　　　　　　　　　　　　　　　　　　　　　　　　　　　　　　　　　　　　　　　　　　　　　　　　　　　　　　　　　　　　　　　　　　　　　　　　　　　　　　　　　　　　　　　　　　　　　　　　　　　　　　　　　　　　　　　　　　　　　　　　　　　　　　　　　　　　　　　　　　　　　　　　　　　　　　　　　　　　　　　　　　　　　　　　　　　　　　　　　　　　　　　　　　　　　　　　　　　　　　　　　　　　　　　　　　　　　　　　　　　　　　　　　　　　　　　　　　　　　　　　　　　　　　　　　　　　　　　　　　　　　　　　　　　　　　　　　　　　　　　　　　　　　　　　　　　　　　　　　　　　　　　　　　　　　　　　　　　　　　　　　　　　　　　　　　　　　　　　　　　　　　　　　　　　　　　　　　　　　　　　　　　　　　　　　　　　　　　　　　　　　　　　　　　　　　　　　　　　　　　　　　　　　　　　　　　　　　　　　　　　　　　　　　　　　　　　　　　　　　　　　　　　　　　　　　　　　　　　　　　　　　　　　　　　　　　　　　　　　　　　　　　　　　　　　　　　　　　　　　　　　　　　　　　　　　　　　　　　　　　　　　　　　　　　　　　　　　　　　　　　　　　　　　　　　　　　　　　　　　　　　　　　　　　　　　　　　　　　　　　　　　　　　　　　　　　　　　　　　　　　　　　　　　　　　　　　　　　　　　　　　　　　　　　　　　　　　　　　　　　　　　　　　　　　　　　　　　　　　　　　　　　　　　　　　　　　　　　　　　　　　　　　　　　　　　　　　　　　　　　　　　　　　　　　　　　　　　　　　　　　　　　　　　　　　　　　　　　　　　　　　　　　　　　　　　　　　　　　　　　　　　　　　　　　　　　　　　　　　　　　　　　　　　　　　　　　　　　　　　　　　　　　　　　　　　　　　　　　　　　　　　　　　　　　　　　　　　　　　　　　　　　　　　　　　　　　　　　　　　　　　　　　　　　　　　　　　　　　　　　　　　　　　　　　　　　　　　　　　　　　　　　　　　　　　　　　　　　　　　　　　　　　　　　　　　　　　　　　　　　　　　　　　　　　　　　　　　　　　　　　　　　　　　　　　　　　　　　　　　　　　　　　　　　　　　　　　　　　　　　　　　　　　　　　　　　　　　　　　　　　　　　　　　　　　　　　　　　　　　　　　　　　　　　　　　　　　　　　　　　　　　　　　　　　　　　　　　　　　　　　　　　　　　　　　　　　　　　　　　　　　　　　　　　　　　　　　　　　　　　　　　　　　　　　　　　　　　　　　　　　　　　　　　　　　　　　　　　　　　　　　　　　　　　　　　　　　　　　　　　　　　　　　　　　　　　　　　　　　　　　　　　　　　　　　　　　　　　　　　　　　　　　　　　　　　　　　　　　　　　　　　　　　　　　　　　　　　　　　　　　　　　　　　　　　　　　　　　　　　　　　　　　　　　　　　　　　　　　　　　　　　　　　　　　　　　　　　　　　　　　　　　　　　　　　　　　　　　　　　　　　　　　　　　　　　　　　　　　　　　　　　　　　　　　　　　　　　　　　　　　　　　　　　　　　　　　　　　　　　　　　　　　　　　　　　　　　　　　　　　　　　　　　　　　　　　　　　　　　　　　　　　　　　　　　　　　　　　　　　　　　　　　　　　　　　　　　　　　　　　　　　　　　　　　　　　　　　　　　　　　　　　　　　　　　　　　　　　　　　　　　　　　　　　　　　　　　　　　　　　　　　　　　　　　　　　　　　　　　　　　　　　　　　　　　　　　　　　　　　　　　　　　　　　　　　　　　　　　　　　　　　　　　　　　　　　　　　　　　　　　　　　　　　　　　　　　　　　　　　　　　　　　　　　　　　　　　　　　　　　　　　　　　　　　　　　　　　　　　　　　　　　　　　　　　　　　　　　　　　　　　　　　　　　　　　　　　　　　　　　　　　　　　　　　　　　　　　　　　　　　　　　　　　　　　　　　　　　　　　　　　　　　　　　　　　　　　　　　　　　　　　　　　　　　　　　　　　　　　　　　　　　　　　　　　　　　　　　　　　　　　　　　　　　　　　　　　　　　　　　　　　　　　　　　　　　　　　　　　　　　　　　　　　　　　　　　　　　　　　　　　　　　　　　　　　　　　　　　　　　　　　　　　　　　　　　　　　　　　　　　　　　　　　　　　　　　　　　　　　　　　　　　　　　　　　　　　　　　　　　　　　　　　　　　　　　　　　　　　　　　　　　　　　　　　　　　　　　　　　　　　　　　　　　　　　　　　　　　　　　　　　　　　　　　　　　　　　　　　　　　　　　　　　　　　　　　　　　　　　　　　　　　　　　　　　　　　　　　　　　　　　　　　　　　　　　　　　　　　　　　　　　　　　　　　　　　　　　　　　　　　　　　　　　　　　　　　　　　　　　　　　　　　　　　　　　　　　　　　　　　　　　　　　　　　　　　　　　　　　　　　　　　　　　　　　　　　　　　　　　　　　　　　　　　　　　　　　　　　　　　　　　　　　　　　　　　　　　　　　　　　　　　　　　　　　　　　　　　　　　　　　　　　　　　　　　　　　　　　　　　　　　　　　　　　　　　　　　　　　　　　　　　　　　　　　　　　　　　　　　　　　　　　　　　　　　　　　　　　　　　　　　　　　　　　　　　　　　　　　　　　　　　　　　　　　　　　　　　　　　　　　　　　　　　　　　　　　　　　　　　　　　　　　　　　　　　　　　　　　　　　　　　　　　　　　　　　　　　　　　　　　　　　　　　　　　　　　　　　　　　　　　　　　　　　　　　　　　　　　　　　　　　　　　　　　　　　　　　　　　　　　　　　　　　　　　　　　　　　　　　　　　　　　　　　　　　　　　　　　　　　　　　　　　　　　　　　　　　　　　　　　　　　　　　　　　　　　　　　　　　　　　　　　　　　　　　　　　　　　　　　　　　　　　　　　　　　　　　　　　　　　　　　　　　　　　　　　　　　　　　　　　　　　　　　　　　　　　　　　　　　　　　　　　　　　　　　　　　　　　　　　　　　　　　　　　　　　　　　　　　　　　　　　　　　　　　　　　　　　　　　　　　　　　　　　　　　　　　　　　　　　　　　　　　　　　　　　　　　　　　　　　　　　　　　　　　　　　　　　　　　　　　　　　　　　　　　　　　　　　　　　　　　　　　　　　　　　　　　　　　　　　　　　　　　　　　　　　　　　　　　　　　　　　　　　　　　　　　　　　　　　　　　　　　　　　　　　　　　　　　　　　　　　　　　　　　　　　　　　　　　　　　　　　　　　　　　　　　　　　　　　　　　　　　　　　　　　　　　　　　　　　　　　　　　　　　　　　　　　　　　　　　　　　　　　　　　　　　　　　　　　　　　　　　　　　　　　　　　　　　　　　　　　　　　　　　　　　　　　　　　　　　　　　　　　　　　　　　　　　　　　　　　　　　　　　　　　　　　　　　　　　　　　　　　　　　　　　　　　　　　　　　　　　　　　　　　　　　　　　　　　　　　　　　　　　　　　　　　　　　　　　　　　　　　　　　　　　　　　　　　　　　　　　　　　　　　　　　　　　　　　　　　　　　　　　　　　　　　　　　　　　　　　　　　　　　　　　　　　　　　　　　　　　　　　　　　　　　　　　　　　　　　　　　　　　　　　　　　　　　　　　　　　　　　　　　　　　　　　　　　　　　　　　　　　　　　　　　　　　　　　　　　　　　　　　　　　　　　　　　　　　　　　　　　　　　　　　　　　　　　　　　　　　　　　　　　　　　　　　　　　　　　　　　　　　　　　　　　　　　　　　　　　　　　　　　　　　　　　　　　　　　　　　　　　　　　　　　　　　　　　　　　　　　　　　　　　　　　　　　　　　　　　　　　　　　　　　　　　　　　　　　　　　　　　　　　　　　　　　　　　　　　　　　　　　　　　　　　　　　　　　　　　　　　　　　　　　　　　　　　　　　　　　　　　　　　　　　　　　　　　　　　　　　　　　　　　　　　　　　　　　　　　　　　　　　　　　　　　　　　　　　　　　　　　　　　　　　　　　　　　　　　　　　　　　　　　　　　　　　　　　　　　　　　　　　　　　　　　　　　　　　　　　　　　　　　　　　　　　　　　　　　　　　　　　　　　　　　　　　　　　　　　　　　　　　　　　　　　　　　　　　　　　　　　　　　　　　　　　　　　　　　　　　　　　　　　　　　　　　　　　　　　　　　　　　　　　　　　　　　　　　　　　　　　　　　　　　　　　　　　　　　　　　　　　　　　　　　　　　　　　　　　　　　　　　　　　　　　　　　　　　　　　　　　　　　　　　　　　　　　　　　　　　　　　　　　　　　　　　　　　　　　　　　　　　　　　　　　　　　　　　　　　　　　　　　　　　　　　　　　　　　　　　　　　　　　　　　　　　　　　　　　　　　　　　　　　　　　　　　　　　　　　　　　　　　　　　　　　　　　　　　　　　　　　　　　　　　　　　　　　　　　　　　　　　　　　　　　　　　　　　　　　　　　　　　　　　　　　　　　　　　　　　　　　　　　　　　　　　　　　　　　　　　　　　　　　　　　　　　　　　　　　　　　　　　　　　　　　　　　　　　　　　　　　　　　　　　　　　　　　　　　　　　　　　　　　　　　　　　　　　　　　　　　　　　　　　　　　　　　　　　　　　　　　　　　　　　　　　　　　　　　　　　　　　　　　　　　　　　　　　　　　　　　　　　　　　　　　　　　　　　　　　　　　　　　　　　　　　　　　　　　　　　　　　　　　　　　　　　　　　　　　　　　　　　　　　　　　　　　　　　　　　　　　　　　　　　　　　　　　　　　　　　　　　　　　　　　　　　　　　　　　　　　　　　　　　　　　　　　　　　　　　　　　　　　　　　　　　　　　　　　　　　　　　　　　　　　　　　　　　　　　　　　　　　　　　　　　　　　　　　　　　　　　　　　　　　　　　　　　　　　　　　　　　　　　　　　　　　　　　　　　　　　　　　　　　　　　　　　　　　　　　　　　　　　　　　　　　　　　　　　　　　　　　　　　　　　　　　　　　　　　　　　　　　　　　　　　　　　　　　　　　　　　　　　　　　　　　　　　　　　　　　　　　　　　　　　　　　　　　　　　　　　　　　　　　　　　　　　　　　　　　　　　　　　　　　　　　　　　　　　　　　　　　　　　　　　　　　　　　　　　　　　　　　　　　　　　　　　　　　　　　　　　　　　　　　　　　　　　　　　　　　　　　　　　　　　　　　　　　　　　　　　　　　　　　　　　　　　　　　　　　　　　　　　　　　　　　　　　　　　　　　　　　　　　　　　　　　　　　　　　　　　　　　　　　　　　　　　　　　　　　　　　　　　　　　　　　　　　　　　　　　　　　　　　　　　　　　　　　　　　　　　　　　　　　　　　　　　　　　　　　　　　　　　　　　　　　　　　　　　　　　　　　　　　　　　　　　　　　　　　　　　　　　　　　　　　　　　　　　　　　　　　　　　　　　　　　　　　　　　　　　　　　　　　　　　　　　　　　　　　　　　　　　　　　　　　　　　　　　　　　　　　　　　　　　　　　　　　　　　　　　　　　　　　　　　　　　　　　　　　　　　　　　　　　　　　　　　　　　　　　　　　　　　　　　　　　　　　　　　　　　　　　　　　　　　　　　　　　　　　　　　　　　　　　　　　　　　　　　　　　　　　　　　　　　　　　　　　　　　　　　　　　　　　　　　　　　　　　　　　　　　　　　　　　　　　　　　　　　　　　　　　　　　　　　　　　　　　　　　　　　　　　　　　　　　　　　　　　　　　　　　　　　　　　　　　　　　　　　　　　　　　　　　　　　　　　　　　　　　　　　　　　　　　　　　　　　　　　　　　　　　　　　　　　　　　　　　　　　　　　　　　　　　　　　　　　　　　　　　　　　　　　　　　　　　　　　　　　　　　　　　　　　　　　　　　　　　　　　　　　　　　　　　　　　　　　　　　　　　　　　　　　　　　　　　　　　　　　　　　　　　　　　　　　　　　　　　　　　　　　　　　　　　　　　　　　　　　　　　　　　　　　　　　　　　　　　　　　　　　　　　　　　　　　　　　　　　　　　　　　　　　　　　　　　　　　　　　　　　　　　　　　　　　　　　　　　　　　　　　　　　　　　　　　　　　　　　　　　　　　　　　　　　　　　　　　　　　　　　　　　　　　　　　　　　　　　　　　　　　　　　　　　　　　　　　　　　　　　　　　　　　　　　　　　　　　　　　　　　　　　　　　　　　　　　　　　　　　　　　　　　　　　　　　　　　　　　　　　　　　　　　　　　　　　　　　　　　　　　　　　　　　　　　　　　　　　　　　　　　　　　　　　　　　　　　　　　　　　　　　　　　　　　　　　　　　　　　　　　　　　　　　　　　　　　　　　　　　　　　　　　　　　　　　　　　　　　　　　　　　　　　　　　　　　　　　　　　　　　　　　　　　　　　　　　　　　　　　　　　　　　　　　　　　　　　　　　　　　　　　　　　　　　　　　　　　　　　　　　　　　　　　　　　　　　　　　　　　　　　　　　　　　　　　　　　　　　　　　　　　　　　　　　　　　　　　　　　　　　　　　　　　　　　　　　　　　　　　　　　　　　　　　　　　　　　　　　　　　　　　　　　　　　　　　　　　　　　　　　　　　　　　　　　　　　　　　　　　　　　　　　　　　　　　　　　　　　　　　　　　　　　　　　　　　　　　　　　　　　　　　　　　　　　　　　　　　　　　　　　　　　　　　　　　　　　　　　　　　　　　　　　　　　　　　　　　　　　　　　　　　　　　　　　　　　　　　　　　　　　　　　　　　　　　　　　　　　　　　　　　　　　　　　　　　　　　　　　　　　　　　　　　　　　　　　　　　　　　　　　　　　　　　　　　　　　　　　　　　　　　　　　　　　　　　　　　　　　　　　　　　　　　　　　　　　　　　　　　　　　　　　　　　　　　　　　　　　　　　　　　　　　　　　　　　　　　　　　　　　　　　　　　　　　　　　　　　　　　　　　　　　　　　　　　　　　　　　　　　　　　　　　　　　　　　　　　　　　　　　　　　　　　　　　　　　　　　　　　　　　　　　　　　　　　　　　　　　　　　　　　　　　　　　　　　　　　　　　　　　　　　　　　　　　　　　　　　　　　　　　　　　　　　　　　　　　　　　　　　　　　　　　　　　　　　　　　　　　　　　　　　　　　　　　　　　　　　　　　　　　　　　　　　　　　　　　　　　　　　　　　　　　　　　　　　　　　　　　　　　　　　　　　　　　　　　　　　　　　　　　　　　　　　　　　　　　　　　　　　　　　　　　　　　　　　　　　　　　　　　　　　　　　　　　　　　　　　　　　　　　　　　　　　　　　　　　　　　　　　　　　　　　　　　　　　　　　　　　　　　　　　　　　　　　　　　　　　　　　　　　　　　　　　　　　　　　　　　　　　　　　　　　　　　　　　　　　　　　　　　　　　　　　　　　　　　　　　　　　　　　　　　　　　　　　　　　　　　　　　　　　　　　　　　　　　　　　　　　　　　　　　　　　　　　　　　　　　　　　　　　　　　　　　　　　　　　　　　　　　　　　　　　　　　　　　　　　　　　　　　　　　　　　　　　　　　　　　　　　　　　　　　　　　　　　　　　　　　　　　　　　　　　　　　　　　　　　　　　　　　　　　　　　　　　　　　　　　　　　　　　　　　　　　　　　　　　　　　　　　　　　　　　　　　　　　　　　　　　　　　　　　　　　　　　　　　　　　　　　　　　　　　　　　　　　　　　　　　　　　　　　　　　　　　　　　　　　　　　　　　　　　　　　　　　　　　　　　　　　　　　　　　　　　　　　　　　　　　　　　　　　　　　　　　　　　　　　　　　　　　　　　　　　　　　　　　　　　　　　　　　　　　　　　　　　　　　　　　　　　　　　　　　　　　　　　　　　　　　　　　　　　　　　　　　　　　　　　　　　　　　　　　　　　　　　　　　　　　　　　　　　　　　　　　　　　　　　　　　　　　　　　　　　　　　　　　　　　　　　　　　　　　　　　　　　　　　　　　　　　　　　　　　　　　　　　　　　　　　　　　　　　　　　　　　　　　　　　　　　　　　　　　　　　　　　　　　　　　　　　　　　　　　　　　　　　　　　　　　　　　　　　　　　　　　　　　　　　　　　　　　　　　　　　　　　　　　　　　　　　　　　　　　　　　　　　　　　　　　　　　　　　　　　　　　　　　　　　　　　　　　　　　　　　　　　　　　　　　　　　　　　　　　　　　　　　　　　　　　　　　　　　　　　　　　　　　　　　　　　　　　　　　　　　　　　　　　　　　　　　　　　　　　　　　　　　　　　　　　　　　　　　　　　　　　　　　　　　　　　　　　　　　　　　　　　　　　　　　　　　　　　　　　　　　　　　　　　　　　　　　　　　　　　　　　　　　　　　　　　　　　　　　　　　　　　　　　　　　　　　　　　　　　　　　　　　　　　　　　　　　　　　　　　　　　　　　　　　　　　　　　　　　　　　　　　　　　　　　　　　　　　　　　　　　　　　　　　　　　　　　　　　　　　　　　　　　　　　　　　　　　　　　　　　　　　　　　　　　　　　　　　　　　　　　　　　　　　　　　　　　　　　　　　　　　　　　　　　　　　　　　　　　　　　　　　　　　　　　　　　　　　　　　　　　　　　　　　　　　　　　　　　　　　　　　　　　　　　　　　　　　　　　　　　　　　　　　　　　　　　　　　　　　　　　　　　　　　　　　　　　　　　　　　　　　　　　　　　　　　　　　　　　　　　　　　　　　　　　　　　　　　　　　　　　　　　　　　　　　　　　　　　　　　　　　　　　　　　　　　　　　　　　　　　　　　　　　　　　　　　　　　　　　　　　　　　　　　　　　　　　　　　　　　　　　　　　　　　　　　　　　　　　　　　　　　　　　　　　　　　　　　　　　　　　　　　　　　　　　　　　　　　　　　　　　　　　　　　　　　　　　　　　　　　　　　　　　　　　　　　　　　　　　　　　　　　　　　　　　　　　　　　　　　　　　　　　　　　　　　　　　　　　　　　　　　　　　　　　　　　　　　　　　　　　　　　　　　　　　　　　　　　　　　　　　　　　　　　　　　　　　　　　　　　　　　　　　　　　　　　　　　　　　　　　　　　　　　　　　　　　　　　　　　　　　　　　　　　　　　　　　　　　　　　　　　　　　　　　　　　　　　　　　　　　　　　　　　　　　　　　　　　　　　　　　　　　　　　　　　　　　　　　　　　　　　　　　　　　　　　　　　　　　　　　　　　　　　　　　　　　　　　　　　　　　　　　　　　　　　　　　　　　　　　　　　　　　　　　　　　　　　　　　　　　　　　　　　　　　　　　　　　　　　　　　　　　　　　　　　　　　　　　　　　　　　　　　　　　　　　　　　　　　　　　　　　　　　　　　　　　　　　　　　　　　　　　　　　　　　　　　　　　　　　　　　　　　　　　　　　　　　　　　　　　　　　　　　　　　　　　　　　　　　　　　　　　　　　　　　　　　　　　　　　　　　　　　　　　　　　　　　　　　　　　　　　　　　　　　　　　　　　　　　　　　　　　　　　　　　　　　　　　　　　　　　　　　　　　　　　　　　　　　　　　　　　　　　　　　　　　　　　　　　　　　　　　　　　　　　　　　　　　　　　　　　　　　　　　　　　　　　　　　　　　　　　　　　　　　　　　　　　　　　　　　　　　　　　　　　　　　　　　　　　　　　　　　　　　　　　　　　　　　　　　　　　　　　　　　　　　　　　　　　　　　　　　　　　　　　　　　　　　　　　　　　　　　　　　　　　　　　　　　　　　　　　　　　　　　　　　　　　　　　　　　　　　　　　　　　　　　　　　　　　　　　　　　　　　　　　　　　　　　　　　　　　　　　　　　　　　　　　　　　　　　　　　　　　　　　　　　　　　　　　　　　　　　　　　　　　　　　　　　　　　　　　　　　　　　　　　　　　　　　　　　　　　　　　　　　　　　　　　　　　　　　　　　　　　　　　　　　　　　　　　　　　　　　　　　　　　　　　　　　　　　　　　　　　　　　　　　　　　　　　　　　　　　　　　　　　　　　　　　　　　　　　　　　　　　　　　　　　　　　　　　　　　　　　　　　　　　　　　　　　　　　　　　　　　　　　　　　　　　　　　　　　　　　　　　　　　　　　　　　　　　　　　　　　　　　　　　　　　　　　　　　　　　　　　　　　　　　　　　　　　　　　　　　　　　　　　　　　　　　　　　　　　　　　　　　　　　　　　　　　　　　　　　　　　　　　　　　　　　　　　　　　　　　　　　　　　　　　　　　　　　　　　　　　　　　　　　　　　　　　　　　　　　　　　　　　　　　　　　　　　　　　　　　　　　　　　　　　　　　　　　　　　　　　　　　　　　　　　　　　　　　　　　　　　　　　　　　　　　　　　　　　　　　　　　　　　　　　　　　　　　　　　　　　　　　　　　　　　　　　　　　　　　　　　　　　　　　　　　　　　　　　　　　　　　　　　　　　　　　　　　　　　　　　　　　　　　　　　　　　　　　　　　　　　　　　　　　　　　　　　　　　　　　　　　　　　　　　　　　　　　　　　　　　　　　　　　　　　　　　　　　　　　　　　　　　　　　　　　　　　　　　　　　　　　　　　　　　　　　　　　　　　　　　　　　　　　　　　　　　　　　　　　　　　　　　　　　　　　　　　　　　　　　　　　　　　　　　　　　　　　　　　　　　　　　　　　　　　　　　　　　　　　　　　　　　　　　　　　　　　　　　　　　　　　　　　　　　　　　　　　　　　　　　　　　　　　　　　　　　　　　　　　　　　　　　　　　　　　　　　　　　　　　　　　　　　　　　　　　　　　　　　　　　　　　　　　　　　　　　　　　　　　　　　　　　　　　　　　　　　　　　　　　　　　　　　　　　　　　　　　　　　　　　　　　　　　　　　　　　　　　　　　　　　　　　　　　　　　　　　　　　　　　　　　　　　　　　　　　　　　　　　　　　　　　　　　　　　　　　　　　　　　　　　　　　　　　　　　　　　　　　　　　　　　　　　　　　　　　　　　　　　　　　　　　　　　　　　　　　　　　　　　　　　　　　　　　　　　　　　　　　　　　　　　　　　　　　　　　　　　　　　　　　　　　　　　　　　　　　　　　　　　　　　　　　　　　　　</a:t>
            </a:r>
          </a:p>
        </p:txBody>
      </p:sp>
      <p:pic>
        <p:nvPicPr>
          <p:cNvPr id="7" name="図 6">
            <a:extLst>
              <a:ext uri="{FF2B5EF4-FFF2-40B4-BE49-F238E27FC236}">
                <a16:creationId xmlns:a16="http://schemas.microsoft.com/office/drawing/2014/main" id="{D03FD0C1-C903-0BE4-6101-DF23CDBE8D7C}"/>
              </a:ext>
            </a:extLst>
          </p:cNvPr>
          <p:cNvPicPr>
            <a:picLocks noChangeAspect="1"/>
          </p:cNvPicPr>
          <p:nvPr/>
        </p:nvPicPr>
        <p:blipFill>
          <a:blip r:embed="rId2">
            <a:extLst>
              <a:ext uri="{28A0092B-C50C-407E-A947-70E740481C1C}">
                <a14:useLocalDpi xmlns:a14="http://schemas.microsoft.com/office/drawing/2010/main" val="0"/>
              </a:ext>
            </a:extLst>
          </a:blip>
          <a:srcRect l="-49807" r="49807"/>
          <a:stretch>
            <a:fillRect/>
          </a:stretch>
        </p:blipFill>
        <p:spPr>
          <a:xfrm>
            <a:off x="4045046" y="2140013"/>
            <a:ext cx="7272985" cy="3872862"/>
          </a:xfrm>
          <a:prstGeom prst="rect">
            <a:avLst/>
          </a:prstGeom>
        </p:spPr>
      </p:pic>
    </p:spTree>
    <p:extLst>
      <p:ext uri="{BB962C8B-B14F-4D97-AF65-F5344CB8AC3E}">
        <p14:creationId xmlns:p14="http://schemas.microsoft.com/office/powerpoint/2010/main" val="3617549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319752E-F1E1-EBC5-D65E-1FDBC7AAD2AF}"/>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21E8E83-8205-21B8-6547-9010321CBF15}"/>
              </a:ext>
            </a:extLst>
          </p:cNvPr>
          <p:cNvSpPr>
            <a:spLocks noGrp="1"/>
          </p:cNvSpPr>
          <p:nvPr>
            <p:ph type="title"/>
          </p:nvPr>
        </p:nvSpPr>
        <p:spPr>
          <a:xfrm>
            <a:off x="1381615" y="357576"/>
            <a:ext cx="8074815" cy="1618489"/>
          </a:xfrm>
        </p:spPr>
        <p:txBody>
          <a:bodyPr anchor="ctr">
            <a:normAutofit/>
          </a:bodyPr>
          <a:lstStyle/>
          <a:p>
            <a:pPr algn="ctr"/>
            <a:r>
              <a:rPr lang="ja-JP" altLang="en-US" sz="6000" dirty="0"/>
              <a:t>全体構成</a:t>
            </a:r>
            <a:endParaRPr kumimoji="1" lang="ja-JP" altLang="en-US" sz="6000" dirty="0"/>
          </a:p>
        </p:txBody>
      </p:sp>
      <p:sp>
        <p:nvSpPr>
          <p:cNvPr id="4" name="テキスト ボックス 3">
            <a:extLst>
              <a:ext uri="{FF2B5EF4-FFF2-40B4-BE49-F238E27FC236}">
                <a16:creationId xmlns:a16="http://schemas.microsoft.com/office/drawing/2014/main" id="{6073F19B-709F-4E18-E6BC-0E9329261934}"/>
              </a:ext>
            </a:extLst>
          </p:cNvPr>
          <p:cNvSpPr txBox="1"/>
          <p:nvPr/>
        </p:nvSpPr>
        <p:spPr>
          <a:xfrm>
            <a:off x="1227656" y="1484993"/>
            <a:ext cx="1386161" cy="646331"/>
          </a:xfrm>
          <a:prstGeom prst="rect">
            <a:avLst/>
          </a:prstGeom>
          <a:noFill/>
        </p:spPr>
        <p:txBody>
          <a:bodyPr wrap="square" rtlCol="0">
            <a:spAutoFit/>
          </a:bodyPr>
          <a:lstStyle/>
          <a:p>
            <a:pPr algn="ctr"/>
            <a:r>
              <a:rPr kumimoji="1" lang="en-US" altLang="ja-JP" sz="3600" dirty="0"/>
              <a:t>C#</a:t>
            </a:r>
            <a:endParaRPr kumimoji="1" lang="ja-JP" altLang="en-US" sz="3600" dirty="0"/>
          </a:p>
        </p:txBody>
      </p:sp>
      <p:sp>
        <p:nvSpPr>
          <p:cNvPr id="5" name="正方形/長方形 4">
            <a:extLst>
              <a:ext uri="{FF2B5EF4-FFF2-40B4-BE49-F238E27FC236}">
                <a16:creationId xmlns:a16="http://schemas.microsoft.com/office/drawing/2014/main" id="{0BD119B1-A2F8-81C1-0C57-3B7C51FF5CE9}"/>
              </a:ext>
            </a:extLst>
          </p:cNvPr>
          <p:cNvSpPr/>
          <p:nvPr/>
        </p:nvSpPr>
        <p:spPr>
          <a:xfrm>
            <a:off x="909452" y="1467817"/>
            <a:ext cx="2050181"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テキスト ボックス 7">
            <a:extLst>
              <a:ext uri="{FF2B5EF4-FFF2-40B4-BE49-F238E27FC236}">
                <a16:creationId xmlns:a16="http://schemas.microsoft.com/office/drawing/2014/main" id="{03AA7838-F275-0B40-A5A8-72218331E164}"/>
              </a:ext>
            </a:extLst>
          </p:cNvPr>
          <p:cNvSpPr txBox="1"/>
          <p:nvPr/>
        </p:nvSpPr>
        <p:spPr>
          <a:xfrm>
            <a:off x="7473587" y="1585609"/>
            <a:ext cx="1783485" cy="646331"/>
          </a:xfrm>
          <a:prstGeom prst="rect">
            <a:avLst/>
          </a:prstGeom>
          <a:noFill/>
        </p:spPr>
        <p:txBody>
          <a:bodyPr wrap="square" rtlCol="0">
            <a:spAutoFit/>
          </a:bodyPr>
          <a:lstStyle/>
          <a:p>
            <a:pPr algn="ctr"/>
            <a:r>
              <a:rPr kumimoji="1" lang="en-US" altLang="ja-JP" sz="3600" dirty="0"/>
              <a:t>Python</a:t>
            </a:r>
            <a:endParaRPr kumimoji="1" lang="ja-JP" altLang="en-US" sz="3600" dirty="0"/>
          </a:p>
        </p:txBody>
      </p:sp>
      <p:sp>
        <p:nvSpPr>
          <p:cNvPr id="9" name="正方形/長方形 8">
            <a:extLst>
              <a:ext uri="{FF2B5EF4-FFF2-40B4-BE49-F238E27FC236}">
                <a16:creationId xmlns:a16="http://schemas.microsoft.com/office/drawing/2014/main" id="{17CF1D40-5263-02D2-420E-4A30F14CA670}"/>
              </a:ext>
            </a:extLst>
          </p:cNvPr>
          <p:cNvSpPr/>
          <p:nvPr/>
        </p:nvSpPr>
        <p:spPr>
          <a:xfrm>
            <a:off x="7419107" y="1583871"/>
            <a:ext cx="2050181" cy="6463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矢印: 右 12">
            <a:extLst>
              <a:ext uri="{FF2B5EF4-FFF2-40B4-BE49-F238E27FC236}">
                <a16:creationId xmlns:a16="http://schemas.microsoft.com/office/drawing/2014/main" id="{D6139A35-F97E-10A7-DBC6-CC96E569062B}"/>
              </a:ext>
            </a:extLst>
          </p:cNvPr>
          <p:cNvSpPr/>
          <p:nvPr/>
        </p:nvSpPr>
        <p:spPr>
          <a:xfrm>
            <a:off x="3697974" y="2284583"/>
            <a:ext cx="1462643" cy="48463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a:extLst>
              <a:ext uri="{FF2B5EF4-FFF2-40B4-BE49-F238E27FC236}">
                <a16:creationId xmlns:a16="http://schemas.microsoft.com/office/drawing/2014/main" id="{FCA4D58D-BC2B-D56D-6E46-B2321A65989D}"/>
              </a:ext>
            </a:extLst>
          </p:cNvPr>
          <p:cNvSpPr txBox="1"/>
          <p:nvPr/>
        </p:nvSpPr>
        <p:spPr>
          <a:xfrm>
            <a:off x="1416871" y="4684987"/>
            <a:ext cx="1462643" cy="461665"/>
          </a:xfrm>
          <a:prstGeom prst="rect">
            <a:avLst/>
          </a:prstGeom>
          <a:noFill/>
        </p:spPr>
        <p:txBody>
          <a:bodyPr wrap="square" rtlCol="0">
            <a:spAutoFit/>
          </a:bodyPr>
          <a:lstStyle/>
          <a:p>
            <a:endParaRPr kumimoji="1" lang="ja-JP" altLang="en-US" sz="2400" dirty="0"/>
          </a:p>
        </p:txBody>
      </p:sp>
      <p:sp>
        <p:nvSpPr>
          <p:cNvPr id="18" name="正方形/長方形 17">
            <a:extLst>
              <a:ext uri="{FF2B5EF4-FFF2-40B4-BE49-F238E27FC236}">
                <a16:creationId xmlns:a16="http://schemas.microsoft.com/office/drawing/2014/main" id="{03EA0086-0C21-2437-BA35-3B9BC0D76E06}"/>
              </a:ext>
            </a:extLst>
          </p:cNvPr>
          <p:cNvSpPr/>
          <p:nvPr/>
        </p:nvSpPr>
        <p:spPr>
          <a:xfrm>
            <a:off x="909452" y="2114148"/>
            <a:ext cx="2419896" cy="439621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9" name="正方形/長方形 18">
            <a:extLst>
              <a:ext uri="{FF2B5EF4-FFF2-40B4-BE49-F238E27FC236}">
                <a16:creationId xmlns:a16="http://schemas.microsoft.com/office/drawing/2014/main" id="{428E2242-1B93-3822-89F4-C3F5250B9668}"/>
              </a:ext>
            </a:extLst>
          </p:cNvPr>
          <p:cNvSpPr/>
          <p:nvPr/>
        </p:nvSpPr>
        <p:spPr>
          <a:xfrm>
            <a:off x="5410200" y="2228129"/>
            <a:ext cx="4582007" cy="42822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0" name="テキスト ボックス 19">
            <a:extLst>
              <a:ext uri="{FF2B5EF4-FFF2-40B4-BE49-F238E27FC236}">
                <a16:creationId xmlns:a16="http://schemas.microsoft.com/office/drawing/2014/main" id="{C292B8E7-DED2-56FC-D958-CCC62D7DEC91}"/>
              </a:ext>
            </a:extLst>
          </p:cNvPr>
          <p:cNvSpPr txBox="1"/>
          <p:nvPr/>
        </p:nvSpPr>
        <p:spPr>
          <a:xfrm>
            <a:off x="7628113" y="2270741"/>
            <a:ext cx="1783485" cy="646331"/>
          </a:xfrm>
          <a:prstGeom prst="rect">
            <a:avLst/>
          </a:prstGeom>
          <a:noFill/>
        </p:spPr>
        <p:txBody>
          <a:bodyPr wrap="square" rtlCol="0">
            <a:spAutoFit/>
          </a:bodyPr>
          <a:lstStyle/>
          <a:p>
            <a:r>
              <a:rPr kumimoji="1" lang="ja-JP" altLang="en-US" dirty="0"/>
              <a:t>仮想環境</a:t>
            </a:r>
            <a:endParaRPr kumimoji="1" lang="en-US" altLang="ja-JP" dirty="0"/>
          </a:p>
          <a:p>
            <a:r>
              <a:rPr kumimoji="1" lang="en-US" altLang="ja-JP" dirty="0" err="1"/>
              <a:t>maicromamba</a:t>
            </a:r>
            <a:endParaRPr kumimoji="1" lang="ja-JP" altLang="en-US" dirty="0"/>
          </a:p>
        </p:txBody>
      </p:sp>
      <p:sp>
        <p:nvSpPr>
          <p:cNvPr id="23" name="テキスト ボックス 22">
            <a:extLst>
              <a:ext uri="{FF2B5EF4-FFF2-40B4-BE49-F238E27FC236}">
                <a16:creationId xmlns:a16="http://schemas.microsoft.com/office/drawing/2014/main" id="{3C54CF08-728D-B070-D7D0-FDCD43B118A4}"/>
              </a:ext>
            </a:extLst>
          </p:cNvPr>
          <p:cNvSpPr txBox="1"/>
          <p:nvPr/>
        </p:nvSpPr>
        <p:spPr>
          <a:xfrm>
            <a:off x="1071099" y="4430087"/>
            <a:ext cx="2202308" cy="1200329"/>
          </a:xfrm>
          <a:prstGeom prst="rect">
            <a:avLst/>
          </a:prstGeom>
          <a:noFill/>
        </p:spPr>
        <p:txBody>
          <a:bodyPr wrap="square" rtlCol="0">
            <a:spAutoFit/>
          </a:bodyPr>
          <a:lstStyle/>
          <a:p>
            <a:r>
              <a:rPr kumimoji="1" lang="en-US" altLang="ja-JP" sz="2400" dirty="0"/>
              <a:t>Unity</a:t>
            </a:r>
            <a:r>
              <a:rPr kumimoji="1" lang="ja-JP" altLang="en-US" sz="2400" dirty="0"/>
              <a:t>で</a:t>
            </a:r>
            <a:endParaRPr kumimoji="1" lang="en-US" altLang="ja-JP" sz="2400" dirty="0"/>
          </a:p>
          <a:p>
            <a:r>
              <a:rPr kumimoji="1" lang="ja-JP" altLang="en-US" sz="2400" dirty="0"/>
              <a:t>タグつけ後のデータを表示</a:t>
            </a:r>
          </a:p>
        </p:txBody>
      </p:sp>
      <p:sp>
        <p:nvSpPr>
          <p:cNvPr id="24" name="テキスト ボックス 23">
            <a:extLst>
              <a:ext uri="{FF2B5EF4-FFF2-40B4-BE49-F238E27FC236}">
                <a16:creationId xmlns:a16="http://schemas.microsoft.com/office/drawing/2014/main" id="{DD597F11-0C19-44B1-7850-651ABE42784B}"/>
              </a:ext>
            </a:extLst>
          </p:cNvPr>
          <p:cNvSpPr txBox="1"/>
          <p:nvPr/>
        </p:nvSpPr>
        <p:spPr>
          <a:xfrm>
            <a:off x="5547752" y="3064324"/>
            <a:ext cx="2092536" cy="1200329"/>
          </a:xfrm>
          <a:prstGeom prst="rect">
            <a:avLst/>
          </a:prstGeom>
          <a:noFill/>
        </p:spPr>
        <p:txBody>
          <a:bodyPr wrap="square" rtlCol="0">
            <a:spAutoFit/>
          </a:bodyPr>
          <a:lstStyle/>
          <a:p>
            <a:r>
              <a:rPr kumimoji="1" lang="en-US" altLang="ja-JP" sz="2400" dirty="0"/>
              <a:t>Nodes</a:t>
            </a:r>
            <a:r>
              <a:rPr kumimoji="1" lang="ja-JP" altLang="en-US" sz="2400" dirty="0"/>
              <a:t>を元に</a:t>
            </a:r>
            <a:r>
              <a:rPr kumimoji="1" lang="en-US" altLang="ja-JP" sz="2400" dirty="0" err="1"/>
              <a:t>MusicXML</a:t>
            </a:r>
            <a:r>
              <a:rPr kumimoji="1" lang="ja-JP" altLang="en-US" sz="2400" dirty="0"/>
              <a:t>ファイルを作成</a:t>
            </a:r>
          </a:p>
        </p:txBody>
      </p:sp>
      <p:sp>
        <p:nvSpPr>
          <p:cNvPr id="25" name="テキスト ボックス 24">
            <a:extLst>
              <a:ext uri="{FF2B5EF4-FFF2-40B4-BE49-F238E27FC236}">
                <a16:creationId xmlns:a16="http://schemas.microsoft.com/office/drawing/2014/main" id="{097148A3-08B4-0D93-C3A8-F8F416371A48}"/>
              </a:ext>
            </a:extLst>
          </p:cNvPr>
          <p:cNvSpPr txBox="1"/>
          <p:nvPr/>
        </p:nvSpPr>
        <p:spPr>
          <a:xfrm>
            <a:off x="1068735" y="3302441"/>
            <a:ext cx="2134642" cy="830997"/>
          </a:xfrm>
          <a:prstGeom prst="rect">
            <a:avLst/>
          </a:prstGeom>
          <a:noFill/>
        </p:spPr>
        <p:txBody>
          <a:bodyPr wrap="square" rtlCol="0">
            <a:spAutoFit/>
          </a:bodyPr>
          <a:lstStyle/>
          <a:p>
            <a:r>
              <a:rPr kumimoji="1" lang="ja-JP" altLang="en-US" sz="2400" dirty="0"/>
              <a:t>音符リスト</a:t>
            </a:r>
            <a:br>
              <a:rPr kumimoji="1" lang="en-US" altLang="ja-JP" sz="2400" dirty="0"/>
            </a:br>
            <a:r>
              <a:rPr kumimoji="1" lang="en-US" altLang="ja-JP" sz="2400" dirty="0"/>
              <a:t>Nodes</a:t>
            </a:r>
            <a:r>
              <a:rPr kumimoji="1" lang="ja-JP" altLang="en-US" sz="2400" dirty="0"/>
              <a:t>を作成</a:t>
            </a:r>
          </a:p>
        </p:txBody>
      </p:sp>
      <p:sp>
        <p:nvSpPr>
          <p:cNvPr id="26" name="テキスト ボックス 25">
            <a:extLst>
              <a:ext uri="{FF2B5EF4-FFF2-40B4-BE49-F238E27FC236}">
                <a16:creationId xmlns:a16="http://schemas.microsoft.com/office/drawing/2014/main" id="{0481F72E-4F5D-06C4-5EF5-10C5506A18DA}"/>
              </a:ext>
            </a:extLst>
          </p:cNvPr>
          <p:cNvSpPr txBox="1"/>
          <p:nvPr/>
        </p:nvSpPr>
        <p:spPr>
          <a:xfrm>
            <a:off x="7749743" y="3022017"/>
            <a:ext cx="2208909" cy="1200329"/>
          </a:xfrm>
          <a:prstGeom prst="rect">
            <a:avLst/>
          </a:prstGeom>
          <a:noFill/>
        </p:spPr>
        <p:txBody>
          <a:bodyPr wrap="square" rtlCol="0">
            <a:spAutoFit/>
          </a:bodyPr>
          <a:lstStyle/>
          <a:p>
            <a:r>
              <a:rPr kumimoji="1" lang="en-US" altLang="ja-JP" sz="2400" dirty="0" err="1"/>
              <a:t>MusicXML</a:t>
            </a:r>
            <a:r>
              <a:rPr kumimoji="1" lang="ja-JP" altLang="en-US" sz="2400" dirty="0"/>
              <a:t>を</a:t>
            </a:r>
            <a:r>
              <a:rPr kumimoji="1" lang="en-US" altLang="ja-JP" sz="2400" dirty="0"/>
              <a:t>MIDI</a:t>
            </a:r>
            <a:r>
              <a:rPr kumimoji="1" lang="ja-JP" altLang="en-US" sz="2400" dirty="0"/>
              <a:t>ファイルに変換、再生</a:t>
            </a:r>
          </a:p>
        </p:txBody>
      </p:sp>
      <p:sp>
        <p:nvSpPr>
          <p:cNvPr id="27" name="正方形/長方形 26">
            <a:extLst>
              <a:ext uri="{FF2B5EF4-FFF2-40B4-BE49-F238E27FC236}">
                <a16:creationId xmlns:a16="http://schemas.microsoft.com/office/drawing/2014/main" id="{87125690-E4D7-3EEA-F6B6-DFCB076D2476}"/>
              </a:ext>
            </a:extLst>
          </p:cNvPr>
          <p:cNvSpPr/>
          <p:nvPr/>
        </p:nvSpPr>
        <p:spPr>
          <a:xfrm>
            <a:off x="5495109" y="3064324"/>
            <a:ext cx="2050181" cy="149026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28" name="正方形/長方形 27">
            <a:extLst>
              <a:ext uri="{FF2B5EF4-FFF2-40B4-BE49-F238E27FC236}">
                <a16:creationId xmlns:a16="http://schemas.microsoft.com/office/drawing/2014/main" id="{5E69658D-3DB1-EE32-A52A-2F4D3BD1FA0E}"/>
              </a:ext>
            </a:extLst>
          </p:cNvPr>
          <p:cNvSpPr/>
          <p:nvPr/>
        </p:nvSpPr>
        <p:spPr>
          <a:xfrm>
            <a:off x="7728565" y="3055035"/>
            <a:ext cx="1992575" cy="1499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9750319A-2B5E-ABF1-B2F2-B95E154DF5F1}"/>
              </a:ext>
            </a:extLst>
          </p:cNvPr>
          <p:cNvSpPr/>
          <p:nvPr/>
        </p:nvSpPr>
        <p:spPr>
          <a:xfrm>
            <a:off x="5495108" y="4678450"/>
            <a:ext cx="2542903" cy="180555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7" name="テキスト ボックス 6">
            <a:extLst>
              <a:ext uri="{FF2B5EF4-FFF2-40B4-BE49-F238E27FC236}">
                <a16:creationId xmlns:a16="http://schemas.microsoft.com/office/drawing/2014/main" id="{2AACE23A-BE41-6E78-5CAC-E829017CB867}"/>
              </a:ext>
            </a:extLst>
          </p:cNvPr>
          <p:cNvSpPr txBox="1"/>
          <p:nvPr/>
        </p:nvSpPr>
        <p:spPr>
          <a:xfrm>
            <a:off x="5556757" y="4689172"/>
            <a:ext cx="2481254" cy="1569660"/>
          </a:xfrm>
          <a:prstGeom prst="rect">
            <a:avLst/>
          </a:prstGeom>
          <a:noFill/>
        </p:spPr>
        <p:txBody>
          <a:bodyPr wrap="square" rtlCol="0">
            <a:spAutoFit/>
          </a:bodyPr>
          <a:lstStyle/>
          <a:p>
            <a:r>
              <a:rPr kumimoji="1" lang="en-US" altLang="ja-JP" sz="2400" dirty="0" err="1"/>
              <a:t>MusicXML</a:t>
            </a:r>
            <a:r>
              <a:rPr kumimoji="1" lang="ja-JP" altLang="en-US" sz="2400" dirty="0"/>
              <a:t>から</a:t>
            </a:r>
            <a:endParaRPr kumimoji="1" lang="en-US" altLang="ja-JP" sz="2400" dirty="0"/>
          </a:p>
          <a:p>
            <a:r>
              <a:rPr kumimoji="1" lang="ja-JP" altLang="en-US" sz="2400" dirty="0"/>
              <a:t>特徴量を抽出し、それを使い判定、タグつけ</a:t>
            </a:r>
          </a:p>
        </p:txBody>
      </p:sp>
      <p:sp>
        <p:nvSpPr>
          <p:cNvPr id="10" name="テキスト ボックス 9">
            <a:extLst>
              <a:ext uri="{FF2B5EF4-FFF2-40B4-BE49-F238E27FC236}">
                <a16:creationId xmlns:a16="http://schemas.microsoft.com/office/drawing/2014/main" id="{62CDB0DB-F035-31D3-0BBC-05AD2449C484}"/>
              </a:ext>
            </a:extLst>
          </p:cNvPr>
          <p:cNvSpPr txBox="1"/>
          <p:nvPr/>
        </p:nvSpPr>
        <p:spPr>
          <a:xfrm>
            <a:off x="3390507" y="2925304"/>
            <a:ext cx="2016324" cy="830997"/>
          </a:xfrm>
          <a:prstGeom prst="rect">
            <a:avLst/>
          </a:prstGeom>
          <a:noFill/>
        </p:spPr>
        <p:txBody>
          <a:bodyPr wrap="square" rtlCol="0">
            <a:spAutoFit/>
          </a:bodyPr>
          <a:lstStyle/>
          <a:p>
            <a:r>
              <a:rPr kumimoji="1" lang="ja-JP" altLang="en-US" sz="2400" dirty="0"/>
              <a:t>管理しているデータを渡す</a:t>
            </a:r>
          </a:p>
        </p:txBody>
      </p:sp>
      <p:sp>
        <p:nvSpPr>
          <p:cNvPr id="11" name="正方形/長方形 10">
            <a:extLst>
              <a:ext uri="{FF2B5EF4-FFF2-40B4-BE49-F238E27FC236}">
                <a16:creationId xmlns:a16="http://schemas.microsoft.com/office/drawing/2014/main" id="{022AEE5B-544F-7113-5608-EC3960F2E0BE}"/>
              </a:ext>
            </a:extLst>
          </p:cNvPr>
          <p:cNvSpPr/>
          <p:nvPr/>
        </p:nvSpPr>
        <p:spPr>
          <a:xfrm>
            <a:off x="3443432" y="2897447"/>
            <a:ext cx="1901163" cy="923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12" name="矢印: 右 11">
            <a:extLst>
              <a:ext uri="{FF2B5EF4-FFF2-40B4-BE49-F238E27FC236}">
                <a16:creationId xmlns:a16="http://schemas.microsoft.com/office/drawing/2014/main" id="{D4B7C2B8-4C0B-EEC3-B087-EED18642030E}"/>
              </a:ext>
            </a:extLst>
          </p:cNvPr>
          <p:cNvSpPr/>
          <p:nvPr/>
        </p:nvSpPr>
        <p:spPr>
          <a:xfrm rot="10800000">
            <a:off x="3697974" y="4483748"/>
            <a:ext cx="1462643" cy="484632"/>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14" name="正方形/長方形 13">
            <a:extLst>
              <a:ext uri="{FF2B5EF4-FFF2-40B4-BE49-F238E27FC236}">
                <a16:creationId xmlns:a16="http://schemas.microsoft.com/office/drawing/2014/main" id="{45B48CC9-B069-9B3D-A129-0EF9DDB0A503}"/>
              </a:ext>
            </a:extLst>
          </p:cNvPr>
          <p:cNvSpPr/>
          <p:nvPr/>
        </p:nvSpPr>
        <p:spPr>
          <a:xfrm>
            <a:off x="1045517" y="3271464"/>
            <a:ext cx="2134642" cy="756467"/>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a:p>
        </p:txBody>
      </p:sp>
      <p:sp>
        <p:nvSpPr>
          <p:cNvPr id="15" name="テキスト ボックス 14">
            <a:extLst>
              <a:ext uri="{FF2B5EF4-FFF2-40B4-BE49-F238E27FC236}">
                <a16:creationId xmlns:a16="http://schemas.microsoft.com/office/drawing/2014/main" id="{4BB42584-9ED0-30F8-B9AD-E2E69477B2C8}"/>
              </a:ext>
            </a:extLst>
          </p:cNvPr>
          <p:cNvSpPr txBox="1"/>
          <p:nvPr/>
        </p:nvSpPr>
        <p:spPr>
          <a:xfrm>
            <a:off x="3634446" y="5255801"/>
            <a:ext cx="1714595" cy="923330"/>
          </a:xfrm>
          <a:prstGeom prst="rect">
            <a:avLst/>
          </a:prstGeom>
          <a:noFill/>
        </p:spPr>
        <p:txBody>
          <a:bodyPr wrap="square" rtlCol="0">
            <a:spAutoFit/>
          </a:bodyPr>
          <a:lstStyle/>
          <a:p>
            <a:r>
              <a:rPr kumimoji="1" lang="ja-JP" altLang="en-US" dirty="0"/>
              <a:t>作成した</a:t>
            </a:r>
            <a:endParaRPr kumimoji="1" lang="en-US" altLang="ja-JP" dirty="0"/>
          </a:p>
          <a:p>
            <a:r>
              <a:rPr kumimoji="1" lang="ja-JP" altLang="en-US" dirty="0"/>
              <a:t>データを</a:t>
            </a:r>
            <a:r>
              <a:rPr kumimoji="1" lang="en-US" altLang="ja-JP" dirty="0"/>
              <a:t>Unity</a:t>
            </a:r>
            <a:r>
              <a:rPr kumimoji="1" lang="ja-JP" altLang="en-US" dirty="0"/>
              <a:t>へ返す。</a:t>
            </a:r>
          </a:p>
        </p:txBody>
      </p:sp>
      <p:sp>
        <p:nvSpPr>
          <p:cNvPr id="21" name="正方形/長方形 20">
            <a:extLst>
              <a:ext uri="{FF2B5EF4-FFF2-40B4-BE49-F238E27FC236}">
                <a16:creationId xmlns:a16="http://schemas.microsoft.com/office/drawing/2014/main" id="{FF27EE26-56AB-93C2-68AE-6921C79720AB}"/>
              </a:ext>
            </a:extLst>
          </p:cNvPr>
          <p:cNvSpPr/>
          <p:nvPr/>
        </p:nvSpPr>
        <p:spPr>
          <a:xfrm>
            <a:off x="3615239" y="5214917"/>
            <a:ext cx="1690651" cy="96421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正方形/長方形 28">
            <a:extLst>
              <a:ext uri="{FF2B5EF4-FFF2-40B4-BE49-F238E27FC236}">
                <a16:creationId xmlns:a16="http://schemas.microsoft.com/office/drawing/2014/main" id="{288FC3E5-37D1-3608-E87D-528E7522BF31}"/>
              </a:ext>
            </a:extLst>
          </p:cNvPr>
          <p:cNvSpPr/>
          <p:nvPr/>
        </p:nvSpPr>
        <p:spPr>
          <a:xfrm>
            <a:off x="1068735" y="4325812"/>
            <a:ext cx="2145107" cy="193835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400" dirty="0"/>
          </a:p>
        </p:txBody>
      </p:sp>
      <p:sp>
        <p:nvSpPr>
          <p:cNvPr id="31" name="正方形/長方形 30">
            <a:extLst>
              <a:ext uri="{FF2B5EF4-FFF2-40B4-BE49-F238E27FC236}">
                <a16:creationId xmlns:a16="http://schemas.microsoft.com/office/drawing/2014/main" id="{542DEF96-38DB-8F98-098F-5AA31620484E}"/>
              </a:ext>
            </a:extLst>
          </p:cNvPr>
          <p:cNvSpPr/>
          <p:nvPr/>
        </p:nvSpPr>
        <p:spPr>
          <a:xfrm>
            <a:off x="7425448" y="2249009"/>
            <a:ext cx="2050181" cy="6463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9B0A8761-A5C8-3C82-8344-0FECCE9ADF7A}"/>
              </a:ext>
            </a:extLst>
          </p:cNvPr>
          <p:cNvSpPr txBox="1"/>
          <p:nvPr/>
        </p:nvSpPr>
        <p:spPr>
          <a:xfrm>
            <a:off x="491534" y="2123666"/>
            <a:ext cx="3022127" cy="646331"/>
          </a:xfrm>
          <a:prstGeom prst="rect">
            <a:avLst/>
          </a:prstGeom>
          <a:noFill/>
        </p:spPr>
        <p:txBody>
          <a:bodyPr wrap="square" rtlCol="0">
            <a:spAutoFit/>
          </a:bodyPr>
          <a:lstStyle/>
          <a:p>
            <a:pPr algn="ctr"/>
            <a:r>
              <a:rPr kumimoji="1" lang="ja-JP" altLang="en-US" dirty="0"/>
              <a:t>プラットフォーム</a:t>
            </a:r>
            <a:endParaRPr kumimoji="1" lang="en-US" altLang="ja-JP" dirty="0"/>
          </a:p>
          <a:p>
            <a:pPr algn="ctr"/>
            <a:r>
              <a:rPr kumimoji="1" lang="en-US" altLang="ja-JP" dirty="0"/>
              <a:t>Unity</a:t>
            </a:r>
            <a:endParaRPr kumimoji="1" lang="ja-JP" altLang="en-US" dirty="0"/>
          </a:p>
        </p:txBody>
      </p:sp>
      <p:sp>
        <p:nvSpPr>
          <p:cNvPr id="16" name="正方形/長方形 15">
            <a:extLst>
              <a:ext uri="{FF2B5EF4-FFF2-40B4-BE49-F238E27FC236}">
                <a16:creationId xmlns:a16="http://schemas.microsoft.com/office/drawing/2014/main" id="{F6E84405-FFEE-2777-AAFF-3CDEB13A7C1D}"/>
              </a:ext>
            </a:extLst>
          </p:cNvPr>
          <p:cNvSpPr/>
          <p:nvPr/>
        </p:nvSpPr>
        <p:spPr>
          <a:xfrm>
            <a:off x="909452" y="2099271"/>
            <a:ext cx="2050181" cy="64633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Tree>
    <p:extLst>
      <p:ext uri="{BB962C8B-B14F-4D97-AF65-F5344CB8AC3E}">
        <p14:creationId xmlns:p14="http://schemas.microsoft.com/office/powerpoint/2010/main" val="12060322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DE36F7-5AEA-DF91-C0CF-63B4DF2248F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A11C7C-A421-5627-711E-821C91063026}"/>
              </a:ext>
            </a:extLst>
          </p:cNvPr>
          <p:cNvSpPr>
            <a:spLocks noGrp="1"/>
          </p:cNvSpPr>
          <p:nvPr>
            <p:ph type="title"/>
          </p:nvPr>
        </p:nvSpPr>
        <p:spPr>
          <a:xfrm>
            <a:off x="1363617" y="571624"/>
            <a:ext cx="8074815" cy="1618489"/>
          </a:xfrm>
        </p:spPr>
        <p:txBody>
          <a:bodyPr anchor="ctr">
            <a:normAutofit/>
          </a:bodyPr>
          <a:lstStyle/>
          <a:p>
            <a:pPr algn="ctr"/>
            <a:r>
              <a:rPr kumimoji="1" lang="ja-JP" altLang="en-US" sz="6000" dirty="0"/>
              <a:t>仮想環境について</a:t>
            </a:r>
          </a:p>
        </p:txBody>
      </p:sp>
      <p:graphicFrame>
        <p:nvGraphicFramePr>
          <p:cNvPr id="13" name="表 12">
            <a:extLst>
              <a:ext uri="{FF2B5EF4-FFF2-40B4-BE49-F238E27FC236}">
                <a16:creationId xmlns:a16="http://schemas.microsoft.com/office/drawing/2014/main" id="{C237C785-7CA0-73FE-433F-F8C49AACE8C0}"/>
              </a:ext>
            </a:extLst>
          </p:cNvPr>
          <p:cNvGraphicFramePr>
            <a:graphicFrameLocks noGrp="1"/>
          </p:cNvGraphicFramePr>
          <p:nvPr>
            <p:extLst>
              <p:ext uri="{D42A27DB-BD31-4B8C-83A1-F6EECF244321}">
                <p14:modId xmlns:p14="http://schemas.microsoft.com/office/powerpoint/2010/main" val="2735387633"/>
              </p:ext>
            </p:extLst>
          </p:nvPr>
        </p:nvGraphicFramePr>
        <p:xfrm>
          <a:off x="1166948" y="1820091"/>
          <a:ext cx="6677886" cy="4085285"/>
        </p:xfrm>
        <a:graphic>
          <a:graphicData uri="http://schemas.openxmlformats.org/drawingml/2006/table">
            <a:tbl>
              <a:tblPr>
                <a:tableStyleId>{5C22544A-7EE6-4342-B048-85BDC9FD1C3A}</a:tableStyleId>
              </a:tblPr>
              <a:tblGrid>
                <a:gridCol w="3255701">
                  <a:extLst>
                    <a:ext uri="{9D8B030D-6E8A-4147-A177-3AD203B41FA5}">
                      <a16:colId xmlns:a16="http://schemas.microsoft.com/office/drawing/2014/main" val="723236475"/>
                    </a:ext>
                  </a:extLst>
                </a:gridCol>
                <a:gridCol w="3422185">
                  <a:extLst>
                    <a:ext uri="{9D8B030D-6E8A-4147-A177-3AD203B41FA5}">
                      <a16:colId xmlns:a16="http://schemas.microsoft.com/office/drawing/2014/main" val="2484370049"/>
                    </a:ext>
                  </a:extLst>
                </a:gridCol>
              </a:tblGrid>
              <a:tr h="541783">
                <a:tc>
                  <a:txBody>
                    <a:bodyPr/>
                    <a:lstStyle/>
                    <a:p>
                      <a:pPr algn="l" fontAlgn="ctr">
                        <a:buNone/>
                      </a:pPr>
                      <a:r>
                        <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rPr>
                        <a:t>仮想環境とは</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導入理由</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541783">
                <a:tc>
                  <a:txBody>
                    <a:bodyPr/>
                    <a:lstStyle/>
                    <a:p>
                      <a:pPr algn="l" fontAlgn="ctr">
                        <a:buNone/>
                      </a:pPr>
                      <a:r>
                        <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2800" b="0" i="0" u="none" strike="noStrike" dirty="0">
                          <a:solidFill>
                            <a:srgbClr val="000000"/>
                          </a:solidFill>
                          <a:effectLst/>
                          <a:latin typeface="游ゴシック" panose="020B0400000000000000" pitchFamily="50" charset="-128"/>
                          <a:ea typeface="游ゴシック" panose="020B0400000000000000" pitchFamily="50" charset="-128"/>
                        </a:rPr>
                        <a:t>Python</a:t>
                      </a:r>
                      <a:r>
                        <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rPr>
                        <a:t>の実行環境をプロジェクトごとに分離する仕組み</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chemeClr val="bg1"/>
                    </a:solidFill>
                  </a:tcPr>
                </a:tc>
                <a:tc>
                  <a:txBody>
                    <a:bodyPr/>
                    <a:lstStyle/>
                    <a:p>
                      <a:pPr algn="l" fontAlgn="ctr">
                        <a:buNone/>
                      </a:pPr>
                      <a:r>
                        <a:rPr lang="ja-JP" altLang="en-US" sz="2800" dirty="0"/>
                        <a:t> 依存関係を分離</a:t>
                      </a:r>
                      <a:endParaRPr 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1083566">
                <a:tc>
                  <a:txBody>
                    <a:bodyPr/>
                    <a:lstStyle/>
                    <a:p>
                      <a:pPr algn="l" fontAlgn="ctr">
                        <a:buNone/>
                      </a:pPr>
                      <a:endParaRPr lang="en-US" altLang="ja-JP" sz="2800" u="none" strike="noStrike" dirty="0">
                        <a:effectLs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ja-JP" altLang="en-US" sz="2800" dirty="0"/>
                        <a:t> 再現性の確保</a:t>
                      </a:r>
                      <a:endParaRPr lang="en-US" altLang="ja-JP" sz="2800"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r h="1170251">
                <a:tc>
                  <a:txBody>
                    <a:bodyPr/>
                    <a:lstStyle/>
                    <a:p>
                      <a:pPr algn="l" fontAlgn="ctr">
                        <a:buNone/>
                      </a:pP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ctr">
                        <a:buNone/>
                      </a:pPr>
                      <a:r>
                        <a:rPr lang="ja-JP" altLang="en-US" sz="2800" dirty="0"/>
                        <a:t> 環境差異の排除</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0370465"/>
                  </a:ext>
                </a:extLst>
              </a:tr>
            </a:tbl>
          </a:graphicData>
        </a:graphic>
      </p:graphicFrame>
      <p:graphicFrame>
        <p:nvGraphicFramePr>
          <p:cNvPr id="5" name="表 4">
            <a:extLst>
              <a:ext uri="{FF2B5EF4-FFF2-40B4-BE49-F238E27FC236}">
                <a16:creationId xmlns:a16="http://schemas.microsoft.com/office/drawing/2014/main" id="{6D09DD57-867D-3A2A-DF7F-B57194BAA871}"/>
              </a:ext>
            </a:extLst>
          </p:cNvPr>
          <p:cNvGraphicFramePr>
            <a:graphicFrameLocks noGrp="1"/>
          </p:cNvGraphicFramePr>
          <p:nvPr>
            <p:extLst>
              <p:ext uri="{D42A27DB-BD31-4B8C-83A1-F6EECF244321}">
                <p14:modId xmlns:p14="http://schemas.microsoft.com/office/powerpoint/2010/main" val="3982450191"/>
              </p:ext>
            </p:extLst>
          </p:nvPr>
        </p:nvGraphicFramePr>
        <p:xfrm>
          <a:off x="7844833" y="1820091"/>
          <a:ext cx="3813767" cy="4128776"/>
        </p:xfrm>
        <a:graphic>
          <a:graphicData uri="http://schemas.openxmlformats.org/drawingml/2006/table">
            <a:tbl>
              <a:tblPr>
                <a:tableStyleId>{073A0DAA-6AF3-43AB-8588-CEC1D06C72B9}</a:tableStyleId>
              </a:tblPr>
              <a:tblGrid>
                <a:gridCol w="3813767">
                  <a:extLst>
                    <a:ext uri="{9D8B030D-6E8A-4147-A177-3AD203B41FA5}">
                      <a16:colId xmlns:a16="http://schemas.microsoft.com/office/drawing/2014/main" val="159393942"/>
                    </a:ext>
                  </a:extLst>
                </a:gridCol>
              </a:tblGrid>
              <a:tr h="532584">
                <a:tc>
                  <a:txBody>
                    <a:bodyPr/>
                    <a:lstStyle/>
                    <a:p>
                      <a:pPr algn="l" fontAlgn="ctr">
                        <a:buNone/>
                      </a:pPr>
                      <a:r>
                        <a:rPr lang="en-US" altLang="ja-JP" sz="3600" b="0" i="0" u="none" strike="noStrike" dirty="0">
                          <a:solidFill>
                            <a:srgbClr val="000000"/>
                          </a:solidFill>
                          <a:effectLst/>
                          <a:latin typeface="+mj-ea"/>
                          <a:ea typeface="+mj-ea"/>
                        </a:rPr>
                        <a:t> </a:t>
                      </a:r>
                      <a:r>
                        <a:rPr lang="en-US" altLang="ja-JP" sz="2800" b="0" i="0" u="none" strike="noStrike" dirty="0" err="1">
                          <a:solidFill>
                            <a:srgbClr val="000000"/>
                          </a:solidFill>
                          <a:effectLst/>
                          <a:latin typeface="+mj-ea"/>
                          <a:ea typeface="+mj-ea"/>
                        </a:rPr>
                        <a:t>micromamba</a:t>
                      </a:r>
                      <a:r>
                        <a:rPr lang="ja-JP" altLang="en-US" sz="2800" b="0" i="0" u="none" strike="noStrike">
                          <a:solidFill>
                            <a:srgbClr val="000000"/>
                          </a:solidFill>
                          <a:effectLst/>
                          <a:latin typeface="+mj-ea"/>
                          <a:ea typeface="+mj-ea"/>
                        </a:rPr>
                        <a:t>の理由</a:t>
                      </a:r>
                      <a:endParaRPr lang="ja-JP" altLang="en-US" sz="2800" b="0" i="0" u="none" strike="noStrike" dirty="0">
                        <a:solidFill>
                          <a:srgbClr val="000000"/>
                        </a:solidFill>
                        <a:effectLst/>
                        <a:latin typeface="+mj-ea"/>
                        <a:ea typeface="+mj-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991241">
                <a:tc>
                  <a:txBody>
                    <a:bodyPr/>
                    <a:lstStyle/>
                    <a:p>
                      <a:pPr algn="l" fontAlgn="ctr">
                        <a:buNone/>
                      </a:pPr>
                      <a:r>
                        <a:rPr lang="ja-JP" altLang="en-US" sz="2800" dirty="0"/>
                        <a:t>軽量な</a:t>
                      </a:r>
                      <a:r>
                        <a:rPr lang="en-US" altLang="ja-JP" sz="2800" dirty="0" err="1"/>
                        <a:t>conda</a:t>
                      </a:r>
                      <a:r>
                        <a:rPr lang="ja-JP" altLang="en-US" sz="2800" dirty="0"/>
                        <a:t>互換環境</a:t>
                      </a:r>
                      <a:endParaRPr lang="en-US" altLang="ja-JP" sz="2800" dirty="0"/>
                    </a:p>
                    <a:p>
                      <a:pPr algn="l" fontAlgn="ctr">
                        <a:buNone/>
                      </a:pPr>
                      <a:r>
                        <a:rPr lang="ja-JP" altLang="en-US" sz="2800" dirty="0"/>
                        <a:t>管理ツール</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1056535">
                <a:tc>
                  <a:txBody>
                    <a:bodyPr/>
                    <a:lstStyle/>
                    <a:p>
                      <a:pPr algn="l" fontAlgn="ctr">
                        <a:buNone/>
                      </a:pPr>
                      <a:r>
                        <a:rPr lang="en-US" altLang="ja-JP" sz="2800" u="none" strike="noStrike" dirty="0">
                          <a:effectLst/>
                          <a:latin typeface="+mn-ea"/>
                          <a:ea typeface="+mn-ea"/>
                        </a:rPr>
                        <a:t> Unity</a:t>
                      </a:r>
                      <a:r>
                        <a:rPr lang="ja-JP" altLang="en-US" sz="2800" u="none" strike="noStrike" dirty="0">
                          <a:effectLst/>
                          <a:latin typeface="+mn-ea"/>
                          <a:ea typeface="+mn-ea"/>
                        </a:rPr>
                        <a:t>から連携する用途として軽いものがいい</a:t>
                      </a:r>
                      <a:endParaRPr lang="en-US" altLang="ja-JP" sz="2800" u="none" strike="noStrike" dirty="0">
                        <a:effectLst/>
                        <a:latin typeface="+mn-ea"/>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r h="1247430">
                <a:tc>
                  <a:txBody>
                    <a:bodyPr/>
                    <a:lstStyle/>
                    <a:p>
                      <a:pPr algn="l" fontAlgn="ctr">
                        <a:buNone/>
                      </a:pPr>
                      <a:r>
                        <a:rPr lang="en-US" altLang="ja-JP" sz="2800" u="none" strike="noStrike" dirty="0">
                          <a:effectLst/>
                        </a:rPr>
                        <a:t> C</a:t>
                      </a:r>
                      <a:r>
                        <a:rPr lang="ja-JP" altLang="en-US" sz="2800" u="none" strike="noStrike" dirty="0">
                          <a:effectLst/>
                        </a:rPr>
                        <a:t>依存ライブラリである</a:t>
                      </a:r>
                      <a:r>
                        <a:rPr lang="en-US" altLang="ja-JP" sz="2800" u="none" strike="noStrike" dirty="0">
                          <a:effectLst/>
                        </a:rPr>
                        <a:t>music21</a:t>
                      </a:r>
                      <a:r>
                        <a:rPr lang="ja-JP" altLang="en-US" sz="2800" u="none" strike="noStrike" dirty="0">
                          <a:effectLst/>
                        </a:rPr>
                        <a:t>が判定の芯であるため。</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0370465"/>
                  </a:ext>
                </a:extLst>
              </a:tr>
            </a:tbl>
          </a:graphicData>
        </a:graphic>
      </p:graphicFrame>
    </p:spTree>
    <p:extLst>
      <p:ext uri="{BB962C8B-B14F-4D97-AF65-F5344CB8AC3E}">
        <p14:creationId xmlns:p14="http://schemas.microsoft.com/office/powerpoint/2010/main" val="1082943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D3B5BB-AB0C-C86A-157F-A9205B9E05C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2DD5992-7CE6-58D9-C25D-8AEDB1B69D0D}"/>
              </a:ext>
            </a:extLst>
          </p:cNvPr>
          <p:cNvSpPr>
            <a:spLocks noGrp="1"/>
          </p:cNvSpPr>
          <p:nvPr>
            <p:ph type="title"/>
          </p:nvPr>
        </p:nvSpPr>
        <p:spPr>
          <a:xfrm>
            <a:off x="1363617" y="571624"/>
            <a:ext cx="8074815" cy="1618489"/>
          </a:xfrm>
        </p:spPr>
        <p:txBody>
          <a:bodyPr anchor="ctr">
            <a:normAutofit/>
          </a:bodyPr>
          <a:lstStyle/>
          <a:p>
            <a:pPr algn="ctr"/>
            <a:r>
              <a:rPr lang="ja-JP" altLang="en-US" sz="6000" dirty="0"/>
              <a:t>音符と五線譜について</a:t>
            </a:r>
            <a:endParaRPr kumimoji="1" lang="ja-JP" altLang="en-US" sz="6000" dirty="0"/>
          </a:p>
        </p:txBody>
      </p:sp>
      <p:graphicFrame>
        <p:nvGraphicFramePr>
          <p:cNvPr id="13" name="表 12">
            <a:extLst>
              <a:ext uri="{FF2B5EF4-FFF2-40B4-BE49-F238E27FC236}">
                <a16:creationId xmlns:a16="http://schemas.microsoft.com/office/drawing/2014/main" id="{37522CA3-666E-2224-63E6-EEB78E904E7F}"/>
              </a:ext>
            </a:extLst>
          </p:cNvPr>
          <p:cNvGraphicFramePr>
            <a:graphicFrameLocks noGrp="1"/>
          </p:cNvGraphicFramePr>
          <p:nvPr>
            <p:extLst>
              <p:ext uri="{D42A27DB-BD31-4B8C-83A1-F6EECF244321}">
                <p14:modId xmlns:p14="http://schemas.microsoft.com/office/powerpoint/2010/main" val="3711511153"/>
              </p:ext>
            </p:extLst>
          </p:nvPr>
        </p:nvGraphicFramePr>
        <p:xfrm>
          <a:off x="1166948" y="1820091"/>
          <a:ext cx="7415077" cy="4682180"/>
        </p:xfrm>
        <a:graphic>
          <a:graphicData uri="http://schemas.openxmlformats.org/drawingml/2006/table">
            <a:tbl>
              <a:tblPr>
                <a:tableStyleId>{5C22544A-7EE6-4342-B048-85BDC9FD1C3A}</a:tableStyleId>
              </a:tblPr>
              <a:tblGrid>
                <a:gridCol w="2968431">
                  <a:extLst>
                    <a:ext uri="{9D8B030D-6E8A-4147-A177-3AD203B41FA5}">
                      <a16:colId xmlns:a16="http://schemas.microsoft.com/office/drawing/2014/main" val="159393942"/>
                    </a:ext>
                  </a:extLst>
                </a:gridCol>
                <a:gridCol w="4446646">
                  <a:extLst>
                    <a:ext uri="{9D8B030D-6E8A-4147-A177-3AD203B41FA5}">
                      <a16:colId xmlns:a16="http://schemas.microsoft.com/office/drawing/2014/main" val="2484370049"/>
                    </a:ext>
                  </a:extLst>
                </a:gridCol>
              </a:tblGrid>
              <a:tr h="798446">
                <a:tc>
                  <a:txBody>
                    <a:bodyPr/>
                    <a:lstStyle/>
                    <a:p>
                      <a:pPr algn="l" fontAlgn="ctr">
                        <a:buNone/>
                      </a:pPr>
                      <a:r>
                        <a:rPr lang="ja-JP" altLang="en-US" sz="2800" u="none" strike="noStrike" dirty="0">
                          <a:effectLst/>
                        </a:rPr>
                        <a:t> 配置方法一覧</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五線譜から</a:t>
                      </a:r>
                      <a:r>
                        <a:rPr lang="en-US" altLang="ja-JP" sz="2800" u="none" strike="noStrike" dirty="0" err="1">
                          <a:effectLst/>
                        </a:rPr>
                        <a:t>MusicXML</a:t>
                      </a:r>
                      <a:r>
                        <a:rPr lang="ja-JP" altLang="en-US" sz="2800" u="none" strike="noStrike" dirty="0">
                          <a:effectLst/>
                        </a:rPr>
                        <a:t>への手順</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1271784">
                <a:tc>
                  <a:txBody>
                    <a:bodyPr/>
                    <a:lstStyle/>
                    <a:p>
                      <a:pPr algn="l" fontAlgn="ctr">
                        <a:buNone/>
                      </a:pPr>
                      <a:r>
                        <a:rPr lang="ja-JP" altLang="en-US" sz="2800" u="none" strike="noStrike" dirty="0">
                          <a:effectLst/>
                        </a:rPr>
                        <a:t> 五線譜の該当部分を</a:t>
                      </a:r>
                      <a:endParaRPr lang="en-US" altLang="ja-JP" sz="2800" u="none" strike="noStrike" dirty="0">
                        <a:effectLst/>
                      </a:endParaRPr>
                    </a:p>
                    <a:p>
                      <a:pPr algn="l" fontAlgn="ctr">
                        <a:buNone/>
                      </a:pPr>
                      <a:r>
                        <a:rPr lang="ja-JP" altLang="en-US" sz="2800" u="none" strike="noStrike" dirty="0">
                          <a:effectLst/>
                        </a:rPr>
                        <a:t>クリック</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2800" u="none" strike="noStrike" dirty="0">
                          <a:effectLst/>
                        </a:rPr>
                        <a:t> </a:t>
                      </a:r>
                      <a:r>
                        <a:rPr lang="ja-JP" altLang="en-US" sz="2800" u="none" strike="noStrike" dirty="0">
                          <a:effectLst/>
                        </a:rPr>
                        <a:t>クリックと同時に音符と</a:t>
                      </a:r>
                      <a:r>
                        <a:rPr lang="en-US" altLang="ja-JP" sz="2800" u="none" strike="noStrike" dirty="0">
                          <a:effectLst/>
                        </a:rPr>
                        <a:t>Node</a:t>
                      </a:r>
                      <a:r>
                        <a:rPr lang="ja-JP" altLang="en-US" sz="2800" u="none" strike="noStrike" dirty="0">
                          <a:effectLst/>
                        </a:rPr>
                        <a:t>クラスを生成、これをリスト</a:t>
                      </a:r>
                      <a:r>
                        <a:rPr lang="en-US" altLang="ja-JP" sz="2800" u="none" strike="noStrike" dirty="0">
                          <a:effectLst/>
                        </a:rPr>
                        <a:t>Nodes</a:t>
                      </a:r>
                      <a:r>
                        <a:rPr lang="ja-JP" altLang="en-US" sz="2800" u="none" strike="noStrike" dirty="0">
                          <a:effectLst/>
                        </a:rPr>
                        <a:t>に入れる。</a:t>
                      </a:r>
                      <a:endParaRPr 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2529530">
                <a:tc>
                  <a:txBody>
                    <a:bodyPr/>
                    <a:lstStyle/>
                    <a:p>
                      <a:pPr algn="l" fontAlgn="ctr">
                        <a:buNone/>
                      </a:pPr>
                      <a:r>
                        <a:rPr lang="ja-JP" altLang="en-US" sz="2800" u="none" strike="noStrike" dirty="0">
                          <a:effectLst/>
                        </a:rPr>
                        <a:t> 楽譜配置ボタンを</a:t>
                      </a:r>
                      <a:endParaRPr lang="en-US" altLang="ja-JP" sz="2800" u="none" strike="noStrike" dirty="0">
                        <a:effectLst/>
                      </a:endParaRPr>
                    </a:p>
                    <a:p>
                      <a:pPr algn="l" fontAlgn="ctr">
                        <a:buNone/>
                      </a:pPr>
                      <a:r>
                        <a:rPr lang="ja-JP" altLang="en-US" sz="2800" u="none" strike="noStrike" dirty="0">
                          <a:effectLst/>
                        </a:rPr>
                        <a:t>クリック</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a:t>
                      </a:r>
                      <a:r>
                        <a:rPr lang="en-US" altLang="ja-JP" sz="2800" u="none" strike="noStrike" dirty="0">
                          <a:effectLst/>
                        </a:rPr>
                        <a:t>Node</a:t>
                      </a:r>
                      <a:r>
                        <a:rPr lang="ja-JP" altLang="en-US" sz="2800" u="none" strike="noStrike" dirty="0">
                          <a:effectLst/>
                        </a:rPr>
                        <a:t>の情報を</a:t>
                      </a:r>
                      <a:r>
                        <a:rPr lang="en-US" altLang="ja-JP" sz="2800" u="none" strike="noStrike" dirty="0">
                          <a:effectLst/>
                        </a:rPr>
                        <a:t>Python</a:t>
                      </a:r>
                      <a:r>
                        <a:rPr lang="ja-JP" altLang="en-US" sz="2800" u="none" strike="noStrike" dirty="0">
                          <a:effectLst/>
                        </a:rPr>
                        <a:t>の</a:t>
                      </a:r>
                      <a:r>
                        <a:rPr lang="en-US" altLang="ja-JP" sz="2800" u="none" strike="noStrike" dirty="0">
                          <a:effectLst/>
                        </a:rPr>
                        <a:t>Music21</a:t>
                      </a:r>
                      <a:r>
                        <a:rPr lang="ja-JP" altLang="en-US" sz="2800" u="none" strike="noStrike" dirty="0">
                          <a:effectLst/>
                        </a:rPr>
                        <a:t>というライブラリに処理させ、</a:t>
                      </a:r>
                      <a:r>
                        <a:rPr lang="en-US" altLang="ja-JP" sz="2800" u="none" strike="noStrike" dirty="0" err="1">
                          <a:effectLst/>
                        </a:rPr>
                        <a:t>MusicXML</a:t>
                      </a:r>
                      <a:r>
                        <a:rPr lang="ja-JP" altLang="en-US" sz="2800" u="none" strike="noStrike" dirty="0">
                          <a:effectLst/>
                        </a:rPr>
                        <a:t>ファイルに変換</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bl>
          </a:graphicData>
        </a:graphic>
      </p:graphicFrame>
      <p:graphicFrame>
        <p:nvGraphicFramePr>
          <p:cNvPr id="5" name="表 4">
            <a:extLst>
              <a:ext uri="{FF2B5EF4-FFF2-40B4-BE49-F238E27FC236}">
                <a16:creationId xmlns:a16="http://schemas.microsoft.com/office/drawing/2014/main" id="{4CDCCA81-3092-9CE3-AD02-681D1B780962}"/>
              </a:ext>
            </a:extLst>
          </p:cNvPr>
          <p:cNvGraphicFramePr>
            <a:graphicFrameLocks noGrp="1"/>
          </p:cNvGraphicFramePr>
          <p:nvPr>
            <p:extLst>
              <p:ext uri="{D42A27DB-BD31-4B8C-83A1-F6EECF244321}">
                <p14:modId xmlns:p14="http://schemas.microsoft.com/office/powerpoint/2010/main" val="3526838493"/>
              </p:ext>
            </p:extLst>
          </p:nvPr>
        </p:nvGraphicFramePr>
        <p:xfrm>
          <a:off x="8582025" y="1828981"/>
          <a:ext cx="3286125" cy="4682180"/>
        </p:xfrm>
        <a:graphic>
          <a:graphicData uri="http://schemas.openxmlformats.org/drawingml/2006/table">
            <a:tbl>
              <a:tblPr>
                <a:tableStyleId>{073A0DAA-6AF3-43AB-8588-CEC1D06C72B9}</a:tableStyleId>
              </a:tblPr>
              <a:tblGrid>
                <a:gridCol w="3286125">
                  <a:extLst>
                    <a:ext uri="{9D8B030D-6E8A-4147-A177-3AD203B41FA5}">
                      <a16:colId xmlns:a16="http://schemas.microsoft.com/office/drawing/2014/main" val="159393942"/>
                    </a:ext>
                  </a:extLst>
                </a:gridCol>
              </a:tblGrid>
              <a:tr h="684335">
                <a:tc>
                  <a:txBody>
                    <a:bodyPr/>
                    <a:lstStyle/>
                    <a:p>
                      <a:pPr algn="l" fontAlgn="ctr">
                        <a:buNone/>
                      </a:pPr>
                      <a:r>
                        <a:rPr lang="en-US" altLang="ja-JP" sz="2800" dirty="0"/>
                        <a:t> Node</a:t>
                      </a:r>
                      <a:r>
                        <a:rPr lang="ja-JP" altLang="en-US" sz="2800" dirty="0"/>
                        <a:t>の定義</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684335">
                <a:tc>
                  <a:txBody>
                    <a:bodyPr/>
                    <a:lstStyle/>
                    <a:p>
                      <a:pPr algn="l" fontAlgn="ctr">
                        <a:buNone/>
                      </a:pPr>
                      <a:r>
                        <a:rPr lang="en-US" altLang="ja-JP" sz="2800" b="0" i="0" u="none" strike="noStrike" dirty="0">
                          <a:solidFill>
                            <a:srgbClr val="000000"/>
                          </a:solidFill>
                          <a:effectLst/>
                          <a:latin typeface="游ゴシック" panose="020B0400000000000000" pitchFamily="50" charset="-128"/>
                          <a:ea typeface="游ゴシック" panose="020B0400000000000000" pitchFamily="50" charset="-128"/>
                        </a:rPr>
                        <a:t> </a:t>
                      </a:r>
                      <a:r>
                        <a:rPr lang="en-US" altLang="ja-JP" sz="2800" b="0" i="0" u="none" strike="noStrike" dirty="0">
                          <a:solidFill>
                            <a:srgbClr val="000000"/>
                          </a:solidFill>
                          <a:effectLst/>
                          <a:latin typeface="+mn-ea"/>
                          <a:ea typeface="+mn-ea"/>
                        </a:rPr>
                        <a:t>duration(</a:t>
                      </a:r>
                      <a:r>
                        <a:rPr lang="ja-JP" altLang="en-US" sz="2800" b="0" i="0" u="none" strike="noStrike" dirty="0">
                          <a:solidFill>
                            <a:srgbClr val="000000"/>
                          </a:solidFill>
                          <a:effectLst/>
                          <a:latin typeface="+mn-ea"/>
                          <a:ea typeface="+mn-ea"/>
                        </a:rPr>
                        <a:t>拍数</a:t>
                      </a:r>
                      <a:r>
                        <a:rPr lang="en-US" altLang="ja-JP" sz="2800" b="0" i="0" u="none" strike="noStrike" dirty="0">
                          <a:solidFill>
                            <a:srgbClr val="000000"/>
                          </a:solidFill>
                          <a:effectLst/>
                          <a:latin typeface="+mn-ea"/>
                          <a:ea typeface="+mn-ea"/>
                        </a:rPr>
                        <a:t>)</a:t>
                      </a:r>
                      <a:endParaRPr lang="ja-JP" altLang="en-US" sz="2800" b="0" i="0" u="none" strike="noStrike" dirty="0">
                        <a:solidFill>
                          <a:srgbClr val="000000"/>
                        </a:solidFill>
                        <a:effectLst/>
                        <a:latin typeface="+mn-ea"/>
                        <a:ea typeface="+mn-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93740828"/>
                  </a:ext>
                </a:extLst>
              </a:tr>
              <a:tr h="824961">
                <a:tc>
                  <a:txBody>
                    <a:bodyPr/>
                    <a:lstStyle/>
                    <a:p>
                      <a:pPr algn="l" fontAlgn="ctr">
                        <a:buNone/>
                      </a:pPr>
                      <a:r>
                        <a:rPr lang="ja-JP" altLang="en-US" sz="2800" dirty="0"/>
                        <a:t> </a:t>
                      </a:r>
                      <a:r>
                        <a:rPr lang="en-US" altLang="ja-JP" sz="2800" dirty="0"/>
                        <a:t>Part</a:t>
                      </a:r>
                      <a:r>
                        <a:rPr lang="en-US" altLang="ja-JP" sz="2800" b="0" i="0" u="none" strike="noStrike" dirty="0">
                          <a:solidFill>
                            <a:srgbClr val="000000"/>
                          </a:solidFill>
                          <a:effectLst/>
                          <a:latin typeface="游ゴシック" panose="020B0400000000000000" pitchFamily="50" charset="-128"/>
                          <a:ea typeface="游ゴシック" panose="020B0400000000000000" pitchFamily="50" charset="-128"/>
                        </a:rPr>
                        <a:t>(</a:t>
                      </a:r>
                      <a:r>
                        <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rPr>
                        <a:t>どのパートか</a:t>
                      </a:r>
                      <a:r>
                        <a:rPr lang="en-US" altLang="ja-JP" sz="28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en-US" altLang="ja-JP" sz="2800" dirty="0"/>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824961">
                <a:tc>
                  <a:txBody>
                    <a:bodyPr/>
                    <a:lstStyle/>
                    <a:p>
                      <a:pPr algn="l" fontAlgn="ctr">
                        <a:buNone/>
                      </a:pPr>
                      <a:r>
                        <a:rPr lang="ja-JP" altLang="en-US" sz="2800" dirty="0"/>
                        <a:t> </a:t>
                      </a:r>
                      <a:r>
                        <a:rPr lang="en-US" altLang="ja-JP" sz="2800" dirty="0"/>
                        <a:t>pitch(</a:t>
                      </a:r>
                      <a:r>
                        <a:rPr lang="ja-JP" altLang="en-US" sz="2800" dirty="0"/>
                        <a:t>音階</a:t>
                      </a:r>
                      <a:r>
                        <a:rPr lang="en-US" altLang="ja-JP" sz="2800" dirty="0"/>
                        <a:t>)</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r h="838627">
                <a:tc>
                  <a:txBody>
                    <a:bodyPr/>
                    <a:lstStyle/>
                    <a:p>
                      <a:pPr algn="l" fontAlgn="ctr">
                        <a:buNone/>
                      </a:pPr>
                      <a:r>
                        <a:rPr lang="ja-JP" altLang="en-US" sz="2800" dirty="0"/>
                        <a:t> </a:t>
                      </a:r>
                      <a:r>
                        <a:rPr lang="en-US" altLang="ja-JP" sz="2800" dirty="0" err="1"/>
                        <a:t>startBar</a:t>
                      </a:r>
                      <a:r>
                        <a:rPr lang="en-US" altLang="ja-JP" sz="2800" dirty="0"/>
                        <a:t>(</a:t>
                      </a:r>
                      <a:r>
                        <a:rPr lang="ja-JP" altLang="en-US" sz="2800" dirty="0"/>
                        <a:t>何拍目か</a:t>
                      </a:r>
                      <a:r>
                        <a:rPr lang="en-US" altLang="ja-JP" sz="2800" dirty="0"/>
                        <a:t>)</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0370465"/>
                  </a:ext>
                </a:extLst>
              </a:tr>
              <a:tr h="824961">
                <a:tc>
                  <a:txBody>
                    <a:bodyPr/>
                    <a:lstStyle/>
                    <a:p>
                      <a:pPr algn="l" fontAlgn="ctr">
                        <a:buNone/>
                      </a:pPr>
                      <a:r>
                        <a:rPr lang="ja-JP" altLang="en-US" sz="2800" dirty="0"/>
                        <a:t> </a:t>
                      </a:r>
                      <a:r>
                        <a:rPr lang="en-US" altLang="ja-JP" sz="2800" dirty="0"/>
                        <a:t>bar(</a:t>
                      </a:r>
                      <a:r>
                        <a:rPr lang="ja-JP" altLang="en-US" sz="2800" dirty="0"/>
                        <a:t>何小節目か</a:t>
                      </a:r>
                      <a:r>
                        <a:rPr lang="en-US" altLang="ja-JP" sz="2800" dirty="0"/>
                        <a:t>)</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14892"/>
                  </a:ext>
                </a:extLst>
              </a:tr>
            </a:tbl>
          </a:graphicData>
        </a:graphic>
      </p:graphicFrame>
    </p:spTree>
    <p:extLst>
      <p:ext uri="{BB962C8B-B14F-4D97-AF65-F5344CB8AC3E}">
        <p14:creationId xmlns:p14="http://schemas.microsoft.com/office/powerpoint/2010/main" val="811802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D29AEA-E2C2-858B-4898-5800BFEE0D2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BDF8C75-9B03-3FF3-B67A-17C6D7D73C68}"/>
              </a:ext>
            </a:extLst>
          </p:cNvPr>
          <p:cNvSpPr>
            <a:spLocks noGrp="1"/>
          </p:cNvSpPr>
          <p:nvPr>
            <p:ph type="title"/>
          </p:nvPr>
        </p:nvSpPr>
        <p:spPr>
          <a:xfrm>
            <a:off x="1363617" y="571624"/>
            <a:ext cx="8074815" cy="1618489"/>
          </a:xfrm>
        </p:spPr>
        <p:txBody>
          <a:bodyPr anchor="ctr">
            <a:normAutofit/>
          </a:bodyPr>
          <a:lstStyle/>
          <a:p>
            <a:pPr algn="ctr"/>
            <a:r>
              <a:rPr lang="ja-JP" altLang="en-US" sz="6000" dirty="0"/>
              <a:t>学習についての概要</a:t>
            </a:r>
            <a:endParaRPr kumimoji="1" lang="ja-JP" altLang="en-US" sz="6000" dirty="0"/>
          </a:p>
        </p:txBody>
      </p:sp>
      <p:graphicFrame>
        <p:nvGraphicFramePr>
          <p:cNvPr id="13" name="表 12">
            <a:extLst>
              <a:ext uri="{FF2B5EF4-FFF2-40B4-BE49-F238E27FC236}">
                <a16:creationId xmlns:a16="http://schemas.microsoft.com/office/drawing/2014/main" id="{9E027433-CBE0-4CC1-8336-7638DCA0619D}"/>
              </a:ext>
            </a:extLst>
          </p:cNvPr>
          <p:cNvGraphicFramePr>
            <a:graphicFrameLocks noGrp="1"/>
          </p:cNvGraphicFramePr>
          <p:nvPr>
            <p:extLst>
              <p:ext uri="{D42A27DB-BD31-4B8C-83A1-F6EECF244321}">
                <p14:modId xmlns:p14="http://schemas.microsoft.com/office/powerpoint/2010/main" val="487798003"/>
              </p:ext>
            </p:extLst>
          </p:nvPr>
        </p:nvGraphicFramePr>
        <p:xfrm>
          <a:off x="1166948" y="1820091"/>
          <a:ext cx="10707552" cy="4204719"/>
        </p:xfrm>
        <a:graphic>
          <a:graphicData uri="http://schemas.openxmlformats.org/drawingml/2006/table">
            <a:tbl>
              <a:tblPr>
                <a:tableStyleId>{5C22544A-7EE6-4342-B048-85BDC9FD1C3A}</a:tableStyleId>
              </a:tblPr>
              <a:tblGrid>
                <a:gridCol w="1180629">
                  <a:extLst>
                    <a:ext uri="{9D8B030D-6E8A-4147-A177-3AD203B41FA5}">
                      <a16:colId xmlns:a16="http://schemas.microsoft.com/office/drawing/2014/main" val="723236475"/>
                    </a:ext>
                  </a:extLst>
                </a:gridCol>
                <a:gridCol w="4771746">
                  <a:extLst>
                    <a:ext uri="{9D8B030D-6E8A-4147-A177-3AD203B41FA5}">
                      <a16:colId xmlns:a16="http://schemas.microsoft.com/office/drawing/2014/main" val="159393942"/>
                    </a:ext>
                  </a:extLst>
                </a:gridCol>
                <a:gridCol w="4755177">
                  <a:extLst>
                    <a:ext uri="{9D8B030D-6E8A-4147-A177-3AD203B41FA5}">
                      <a16:colId xmlns:a16="http://schemas.microsoft.com/office/drawing/2014/main" val="2484370049"/>
                    </a:ext>
                  </a:extLst>
                </a:gridCol>
              </a:tblGrid>
              <a:tr h="541783">
                <a:tc>
                  <a:txBody>
                    <a:bodyPr/>
                    <a:lstStyle/>
                    <a:p>
                      <a:pPr algn="l" fontAlgn="ctr">
                        <a:buNone/>
                      </a:pP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学習手法</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使用アルゴリズム</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541783">
                <a:tc>
                  <a:txBody>
                    <a:bodyPr/>
                    <a:lstStyle/>
                    <a:p>
                      <a:pPr algn="l" fontAlgn="ctr">
                        <a:buNone/>
                      </a:pPr>
                      <a:r>
                        <a:rPr lang="ja-JP" altLang="en-US" sz="2800" u="none" strike="noStrike" dirty="0">
                          <a:effectLst/>
                        </a:rPr>
                        <a:t>区分</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教師付き学習</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en-US" sz="2800" u="none" strike="noStrike" dirty="0">
                          <a:effectLst/>
                        </a:rPr>
                        <a:t> </a:t>
                      </a:r>
                      <a:r>
                        <a:rPr lang="en-US" sz="2800" u="none" strike="noStrike" dirty="0" err="1">
                          <a:effectLst/>
                        </a:rPr>
                        <a:t>LightGBM</a:t>
                      </a:r>
                      <a:endParaRPr lang="en-US" sz="2800" u="none" strike="noStrike" dirty="0">
                        <a:effectLst/>
                      </a:endParaRPr>
                    </a:p>
                    <a:p>
                      <a:pPr algn="l" fontAlgn="ctr">
                        <a:buNone/>
                      </a:pPr>
                      <a:r>
                        <a:rPr lang="en-US" sz="2800" u="none" strike="noStrike" dirty="0">
                          <a:effectLst/>
                        </a:rPr>
                        <a:t>（LGBM）</a:t>
                      </a:r>
                      <a:endParaRPr 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1083566">
                <a:tc>
                  <a:txBody>
                    <a:bodyPr/>
                    <a:lstStyle/>
                    <a:p>
                      <a:pPr algn="l" fontAlgn="ctr">
                        <a:buNone/>
                      </a:pPr>
                      <a:r>
                        <a:rPr lang="ja-JP" altLang="en-US" sz="2800" u="none" strike="noStrike" dirty="0">
                          <a:effectLst/>
                        </a:rPr>
                        <a:t>詳細</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正解ラベル付き</a:t>
                      </a:r>
                      <a:endParaRPr lang="en-US" altLang="ja-JP" sz="2800" u="none" strike="noStrike" dirty="0">
                        <a:effectLst/>
                      </a:endParaRPr>
                    </a:p>
                    <a:p>
                      <a:pPr algn="l" fontAlgn="ctr">
                        <a:buNone/>
                      </a:pPr>
                      <a:r>
                        <a:rPr lang="ja-JP" altLang="en-US" sz="2800" u="none" strike="noStrike" dirty="0">
                          <a:effectLst/>
                        </a:rPr>
                        <a:t> データを使い学習する方法</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決定木アンサンブル</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r h="1170251">
                <a:tc>
                  <a:txBody>
                    <a:bodyPr/>
                    <a:lstStyle/>
                    <a:p>
                      <a:pPr algn="l" fontAlgn="ctr">
                        <a:buNone/>
                      </a:pPr>
                      <a:r>
                        <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rPr>
                        <a:t>行った操作</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曲に</a:t>
                      </a:r>
                      <a:endParaRPr lang="en-US" altLang="ja-JP" sz="2800" u="none" strike="noStrike" dirty="0">
                        <a:effectLst/>
                      </a:endParaRPr>
                    </a:p>
                    <a:p>
                      <a:pPr algn="l" fontAlgn="ctr">
                        <a:buNone/>
                      </a:pPr>
                      <a:r>
                        <a:rPr lang="en-US" sz="2800" u="none" strike="noStrike" dirty="0">
                          <a:effectLst/>
                        </a:rPr>
                        <a:t> Sad / fear / anxiety /trust </a:t>
                      </a:r>
                      <a:r>
                        <a:rPr lang="ja-JP" altLang="en-US" sz="2800" u="none" strike="noStrike" dirty="0">
                          <a:effectLst/>
                        </a:rPr>
                        <a:t>の感情ラベルを</a:t>
                      </a:r>
                      <a:endParaRPr lang="en-US" altLang="ja-JP" sz="2800" u="none" strike="noStrike" dirty="0">
                        <a:effectLst/>
                      </a:endParaRPr>
                    </a:p>
                    <a:p>
                      <a:pPr algn="l" fontAlgn="ctr">
                        <a:buNone/>
                      </a:pPr>
                      <a:r>
                        <a:rPr lang="ja-JP" altLang="en-US" sz="2800" u="none" strike="noStrike" dirty="0">
                          <a:effectLst/>
                        </a:rPr>
                        <a:t> 一つ一つ付ける</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fontAlgn="ctr">
                        <a:buNone/>
                      </a:pPr>
                      <a:r>
                        <a:rPr lang="ja-JP" altLang="en-US" sz="2800" u="none" strike="noStrike" dirty="0">
                          <a:effectLst/>
                        </a:rPr>
                        <a:t> 特徴量を数値での</a:t>
                      </a:r>
                      <a:endParaRPr lang="en-US" altLang="ja-JP" sz="2800" u="none" strike="noStrike" dirty="0">
                        <a:effectLst/>
                      </a:endParaRPr>
                    </a:p>
                    <a:p>
                      <a:pPr algn="l" fontAlgn="ctr">
                        <a:buNone/>
                      </a:pPr>
                      <a:r>
                        <a:rPr lang="en-US" altLang="ja-JP" sz="2800" u="none" strike="noStrike" dirty="0">
                          <a:effectLst/>
                        </a:rPr>
                        <a:t> </a:t>
                      </a:r>
                      <a:r>
                        <a:rPr lang="ja-JP" altLang="en-US" sz="2800" u="none" strike="noStrike" dirty="0">
                          <a:effectLst/>
                        </a:rPr>
                        <a:t>多寡による分岐で判別させ</a:t>
                      </a:r>
                      <a:endParaRPr lang="en-US" altLang="ja-JP" sz="2800" u="none" strike="noStrike" dirty="0">
                        <a:effectLst/>
                      </a:endParaRPr>
                    </a:p>
                    <a:p>
                      <a:pPr algn="l" fontAlgn="ctr">
                        <a:buNone/>
                      </a:pPr>
                      <a:r>
                        <a:rPr lang="en-US" altLang="ja-JP" sz="2800" u="none" strike="noStrike" dirty="0">
                          <a:effectLst/>
                        </a:rPr>
                        <a:t> </a:t>
                      </a:r>
                      <a:r>
                        <a:rPr lang="ja-JP" altLang="en-US" sz="2800" u="none" strike="noStrike" dirty="0">
                          <a:effectLst/>
                        </a:rPr>
                        <a:t>これを繰り返しモデルを生成。</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0370465"/>
                  </a:ext>
                </a:extLst>
              </a:tr>
            </a:tbl>
          </a:graphicData>
        </a:graphic>
      </p:graphicFrame>
    </p:spTree>
    <p:extLst>
      <p:ext uri="{BB962C8B-B14F-4D97-AF65-F5344CB8AC3E}">
        <p14:creationId xmlns:p14="http://schemas.microsoft.com/office/powerpoint/2010/main" val="4449660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59FF1C-6319-7935-25D8-F25584F8883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A0EB03-794D-8554-3B6C-B920C40EA91A}"/>
              </a:ext>
            </a:extLst>
          </p:cNvPr>
          <p:cNvSpPr>
            <a:spLocks noGrp="1"/>
          </p:cNvSpPr>
          <p:nvPr>
            <p:ph type="title"/>
          </p:nvPr>
        </p:nvSpPr>
        <p:spPr>
          <a:xfrm>
            <a:off x="1363617" y="571624"/>
            <a:ext cx="8074815" cy="1618489"/>
          </a:xfrm>
        </p:spPr>
        <p:txBody>
          <a:bodyPr anchor="ctr">
            <a:normAutofit/>
          </a:bodyPr>
          <a:lstStyle/>
          <a:p>
            <a:pPr algn="ctr"/>
            <a:r>
              <a:rPr kumimoji="1" lang="ja-JP" altLang="en-US" sz="6000" dirty="0"/>
              <a:t>学習手法について</a:t>
            </a:r>
          </a:p>
        </p:txBody>
      </p:sp>
      <p:graphicFrame>
        <p:nvGraphicFramePr>
          <p:cNvPr id="3" name="表 2">
            <a:extLst>
              <a:ext uri="{FF2B5EF4-FFF2-40B4-BE49-F238E27FC236}">
                <a16:creationId xmlns:a16="http://schemas.microsoft.com/office/drawing/2014/main" id="{20E5A656-C70C-EA84-7A13-3F566B384D4F}"/>
              </a:ext>
            </a:extLst>
          </p:cNvPr>
          <p:cNvGraphicFramePr>
            <a:graphicFrameLocks noGrp="1"/>
          </p:cNvGraphicFramePr>
          <p:nvPr>
            <p:extLst>
              <p:ext uri="{D42A27DB-BD31-4B8C-83A1-F6EECF244321}">
                <p14:modId xmlns:p14="http://schemas.microsoft.com/office/powerpoint/2010/main" val="1140685113"/>
              </p:ext>
            </p:extLst>
          </p:nvPr>
        </p:nvGraphicFramePr>
        <p:xfrm>
          <a:off x="710474" y="2190112"/>
          <a:ext cx="5269412" cy="4356609"/>
        </p:xfrm>
        <a:graphic>
          <a:graphicData uri="http://schemas.openxmlformats.org/drawingml/2006/table">
            <a:tbl>
              <a:tblPr>
                <a:tableStyleId>{5C22544A-7EE6-4342-B048-85BDC9FD1C3A}</a:tableStyleId>
              </a:tblPr>
              <a:tblGrid>
                <a:gridCol w="5269412">
                  <a:extLst>
                    <a:ext uri="{9D8B030D-6E8A-4147-A177-3AD203B41FA5}">
                      <a16:colId xmlns:a16="http://schemas.microsoft.com/office/drawing/2014/main" val="159393942"/>
                    </a:ext>
                  </a:extLst>
                </a:gridCol>
              </a:tblGrid>
              <a:tr h="1276148">
                <a:tc>
                  <a:txBody>
                    <a:bodyPr/>
                    <a:lstStyle/>
                    <a:p>
                      <a:pPr algn="ctr" fontAlgn="ctr">
                        <a:buNone/>
                      </a:pPr>
                      <a:r>
                        <a:rPr lang="ja-JP" altLang="en-US" sz="3600" u="none" strike="noStrike" dirty="0">
                          <a:effectLst/>
                        </a:rPr>
                        <a:t>教師付き学習とは？</a:t>
                      </a:r>
                      <a:endParaRPr lang="ja-JP" altLang="en-US" sz="36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0872199"/>
                  </a:ext>
                </a:extLst>
              </a:tr>
              <a:tr h="862186">
                <a:tc>
                  <a:txBody>
                    <a:bodyPr/>
                    <a:lstStyle/>
                    <a:p>
                      <a:pPr algn="l" fontAlgn="ctr">
                        <a:buNone/>
                      </a:pPr>
                      <a:r>
                        <a:rPr lang="ja-JP" altLang="en-US" sz="2800" dirty="0"/>
                        <a:t> 入力と正解をセットで</a:t>
                      </a:r>
                      <a:endParaRPr lang="en-US" altLang="ja-JP" sz="2800" dirty="0"/>
                    </a:p>
                    <a:p>
                      <a:pPr algn="l" fontAlgn="ctr">
                        <a:buNone/>
                      </a:pPr>
                      <a:r>
                        <a:rPr lang="ja-JP" altLang="en-US" sz="2800" dirty="0"/>
                        <a:t> 学習する方法</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6017188"/>
                  </a:ext>
                </a:extLst>
              </a:tr>
              <a:tr h="984030">
                <a:tc>
                  <a:txBody>
                    <a:bodyPr/>
                    <a:lstStyle/>
                    <a:p>
                      <a:pPr algn="l" fontAlgn="ctr">
                        <a:buNone/>
                      </a:pPr>
                      <a:r>
                        <a:rPr lang="ja-JP" altLang="en-US" sz="2800" u="none" strike="noStrike" dirty="0">
                          <a:effectLst/>
                        </a:rPr>
                        <a:t> 学習元の曲に感情をタグつけし</a:t>
                      </a:r>
                      <a:endParaRPr lang="en-US" altLang="ja-JP" sz="2800" u="none" strike="noStrike" dirty="0">
                        <a:effectLst/>
                      </a:endParaRPr>
                    </a:p>
                    <a:p>
                      <a:pPr algn="l" fontAlgn="ctr">
                        <a:buNone/>
                      </a:pPr>
                      <a:r>
                        <a:rPr lang="en-US" altLang="ja-JP" sz="2800" u="none" strike="noStrike" dirty="0">
                          <a:effectLst/>
                        </a:rPr>
                        <a:t> </a:t>
                      </a:r>
                      <a:r>
                        <a:rPr lang="ja-JP" altLang="en-US" sz="2800" u="none" strike="noStrike" dirty="0">
                          <a:effectLst/>
                        </a:rPr>
                        <a:t>分類させる</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20370465"/>
                  </a:ext>
                </a:extLst>
              </a:tr>
              <a:tr h="1233466">
                <a:tc>
                  <a:txBody>
                    <a:bodyPr/>
                    <a:lstStyle/>
                    <a:p>
                      <a:pPr algn="l" fontAlgn="ctr">
                        <a:buNone/>
                      </a:pPr>
                      <a:r>
                        <a:rPr lang="ja-JP" altLang="en-US" sz="2800" u="none" strike="noStrike" dirty="0">
                          <a:effectLst/>
                        </a:rPr>
                        <a:t> 数値を予測する。</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414892"/>
                  </a:ext>
                </a:extLst>
              </a:tr>
            </a:tbl>
          </a:graphicData>
        </a:graphic>
      </p:graphicFrame>
      <p:graphicFrame>
        <p:nvGraphicFramePr>
          <p:cNvPr id="5" name="表 4">
            <a:extLst>
              <a:ext uri="{FF2B5EF4-FFF2-40B4-BE49-F238E27FC236}">
                <a16:creationId xmlns:a16="http://schemas.microsoft.com/office/drawing/2014/main" id="{ACBC5DBC-0B6B-5F03-ED4B-B420E7191DAF}"/>
              </a:ext>
            </a:extLst>
          </p:cNvPr>
          <p:cNvGraphicFramePr>
            <a:graphicFrameLocks noGrp="1"/>
          </p:cNvGraphicFramePr>
          <p:nvPr>
            <p:extLst>
              <p:ext uri="{D42A27DB-BD31-4B8C-83A1-F6EECF244321}">
                <p14:modId xmlns:p14="http://schemas.microsoft.com/office/powerpoint/2010/main" val="4153301486"/>
              </p:ext>
            </p:extLst>
          </p:nvPr>
        </p:nvGraphicFramePr>
        <p:xfrm>
          <a:off x="8579290" y="2186239"/>
          <a:ext cx="2599404" cy="4357436"/>
        </p:xfrm>
        <a:graphic>
          <a:graphicData uri="http://schemas.openxmlformats.org/drawingml/2006/table">
            <a:tbl>
              <a:tblPr>
                <a:tableStyleId>{073A0DAA-6AF3-43AB-8588-CEC1D06C72B9}</a:tableStyleId>
              </a:tblPr>
              <a:tblGrid>
                <a:gridCol w="2599404">
                  <a:extLst>
                    <a:ext uri="{9D8B030D-6E8A-4147-A177-3AD203B41FA5}">
                      <a16:colId xmlns:a16="http://schemas.microsoft.com/office/drawing/2014/main" val="159393942"/>
                    </a:ext>
                  </a:extLst>
                </a:gridCol>
              </a:tblGrid>
              <a:tr h="842711">
                <a:tc>
                  <a:txBody>
                    <a:bodyPr/>
                    <a:lstStyle/>
                    <a:p>
                      <a:pPr algn="l" fontAlgn="ctr">
                        <a:buNone/>
                      </a:pPr>
                      <a:r>
                        <a:rPr lang="ja-JP" altLang="en-US" sz="3600" b="0" i="0" u="none" strike="noStrike" dirty="0">
                          <a:solidFill>
                            <a:srgbClr val="000000"/>
                          </a:solidFill>
                          <a:effectLst/>
                          <a:latin typeface="+mj-ea"/>
                          <a:ea typeface="+mj-ea"/>
                        </a:rPr>
                        <a:t> 選定理由</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1057275">
                <a:tc>
                  <a:txBody>
                    <a:bodyPr/>
                    <a:lstStyle/>
                    <a:p>
                      <a:pPr algn="l" fontAlgn="ctr">
                        <a:buNone/>
                      </a:pPr>
                      <a:r>
                        <a:rPr lang="ja-JP" altLang="en-US" sz="2800" dirty="0"/>
                        <a:t> 精度が高い</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1126919">
                <a:tc>
                  <a:txBody>
                    <a:bodyPr/>
                    <a:lstStyle/>
                    <a:p>
                      <a:pPr algn="l" fontAlgn="ctr">
                        <a:buNone/>
                      </a:pPr>
                      <a:r>
                        <a:rPr lang="en-US" altLang="ja-JP" sz="2800" u="none" strike="noStrike" dirty="0">
                          <a:effectLst/>
                        </a:rPr>
                        <a:t> </a:t>
                      </a:r>
                      <a:r>
                        <a:rPr lang="ja-JP" altLang="en-US" sz="2800" u="none" strike="noStrike" dirty="0">
                          <a:effectLst/>
                        </a:rPr>
                        <a:t>新しいラベルを追加しやすい</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r h="1330531">
                <a:tc>
                  <a:txBody>
                    <a:bodyPr/>
                    <a:lstStyle/>
                    <a:p>
                      <a:pPr algn="l" fontAlgn="ctr">
                        <a:buNone/>
                      </a:pPr>
                      <a:r>
                        <a:rPr lang="en-US" altLang="ja-JP" sz="2800" u="none" strike="noStrike" dirty="0">
                          <a:effectLst/>
                        </a:rPr>
                        <a:t> </a:t>
                      </a:r>
                      <a:r>
                        <a:rPr lang="ja-JP" altLang="en-US" sz="2800" u="none" strike="noStrike" dirty="0">
                          <a:effectLst/>
                        </a:rPr>
                        <a:t>設計と相性がいい</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0370465"/>
                  </a:ext>
                </a:extLst>
              </a:tr>
            </a:tbl>
          </a:graphicData>
        </a:graphic>
      </p:graphicFrame>
      <p:graphicFrame>
        <p:nvGraphicFramePr>
          <p:cNvPr id="9" name="表 8">
            <a:extLst>
              <a:ext uri="{FF2B5EF4-FFF2-40B4-BE49-F238E27FC236}">
                <a16:creationId xmlns:a16="http://schemas.microsoft.com/office/drawing/2014/main" id="{1E18A129-FF4F-0DE6-ACA0-AA4ED37C2B96}"/>
              </a:ext>
            </a:extLst>
          </p:cNvPr>
          <p:cNvGraphicFramePr>
            <a:graphicFrameLocks noGrp="1"/>
          </p:cNvGraphicFramePr>
          <p:nvPr>
            <p:extLst>
              <p:ext uri="{D42A27DB-BD31-4B8C-83A1-F6EECF244321}">
                <p14:modId xmlns:p14="http://schemas.microsoft.com/office/powerpoint/2010/main" val="1577293840"/>
              </p:ext>
            </p:extLst>
          </p:nvPr>
        </p:nvGraphicFramePr>
        <p:xfrm>
          <a:off x="5979886" y="2188566"/>
          <a:ext cx="2599404" cy="4355829"/>
        </p:xfrm>
        <a:graphic>
          <a:graphicData uri="http://schemas.openxmlformats.org/drawingml/2006/table">
            <a:tbl>
              <a:tblPr>
                <a:tableStyleId>{073A0DAA-6AF3-43AB-8588-CEC1D06C72B9}</a:tableStyleId>
              </a:tblPr>
              <a:tblGrid>
                <a:gridCol w="2599404">
                  <a:extLst>
                    <a:ext uri="{9D8B030D-6E8A-4147-A177-3AD203B41FA5}">
                      <a16:colId xmlns:a16="http://schemas.microsoft.com/office/drawing/2014/main" val="159393942"/>
                    </a:ext>
                  </a:extLst>
                </a:gridCol>
              </a:tblGrid>
              <a:tr h="822278">
                <a:tc>
                  <a:txBody>
                    <a:bodyPr/>
                    <a:lstStyle/>
                    <a:p>
                      <a:pPr algn="l" fontAlgn="ctr">
                        <a:buNone/>
                      </a:pPr>
                      <a:r>
                        <a:rPr lang="ja-JP" altLang="en-US" sz="3600" b="0" i="0" u="none" strike="noStrike" dirty="0">
                          <a:solidFill>
                            <a:srgbClr val="000000"/>
                          </a:solidFill>
                          <a:effectLst/>
                          <a:latin typeface="+mj-ea"/>
                          <a:ea typeface="+mj-ea"/>
                        </a:rPr>
                        <a:t> 感情タグ</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822278">
                <a:tc>
                  <a:txBody>
                    <a:bodyPr/>
                    <a:lstStyle/>
                    <a:p>
                      <a:pPr algn="l" fontAlgn="ctr">
                        <a:buNone/>
                      </a:pPr>
                      <a:r>
                        <a:rPr lang="ja-JP" altLang="en-US" sz="3600" b="0" i="0" u="none" strike="noStrike" dirty="0">
                          <a:solidFill>
                            <a:srgbClr val="000000"/>
                          </a:solidFill>
                          <a:effectLst/>
                          <a:latin typeface="+mj-ea"/>
                          <a:ea typeface="+mj-ea"/>
                        </a:rPr>
                        <a:t> </a:t>
                      </a:r>
                      <a:r>
                        <a:rPr lang="en-US" altLang="ja-JP" sz="2800" b="0" i="0" u="none" strike="noStrike" dirty="0">
                          <a:solidFill>
                            <a:srgbClr val="000000"/>
                          </a:solidFill>
                          <a:effectLst/>
                          <a:latin typeface="+mj-ea"/>
                          <a:ea typeface="+mj-ea"/>
                        </a:rPr>
                        <a:t>Sad(</a:t>
                      </a:r>
                      <a:r>
                        <a:rPr lang="ja-JP" altLang="en-US" sz="2800" b="0" i="0" u="none" strike="noStrike" dirty="0">
                          <a:solidFill>
                            <a:srgbClr val="000000"/>
                          </a:solidFill>
                          <a:effectLst/>
                          <a:latin typeface="+mj-ea"/>
                          <a:ea typeface="+mj-ea"/>
                        </a:rPr>
                        <a:t>悲しみ</a:t>
                      </a:r>
                      <a:r>
                        <a:rPr lang="en-US" altLang="ja-JP" sz="2800" b="0" i="0" u="none" strike="noStrike" dirty="0">
                          <a:solidFill>
                            <a:srgbClr val="000000"/>
                          </a:solidFill>
                          <a:effectLst/>
                          <a:latin typeface="+mj-ea"/>
                          <a:ea typeface="+mj-ea"/>
                        </a:rPr>
                        <a:t>)</a:t>
                      </a:r>
                      <a:endParaRPr lang="ja-JP" altLang="en-US" sz="2800" b="0" i="0" u="none" strike="noStrike" dirty="0">
                        <a:solidFill>
                          <a:srgbClr val="000000"/>
                        </a:solidFill>
                        <a:effectLst/>
                        <a:latin typeface="+mj-ea"/>
                        <a:ea typeface="+mj-ea"/>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9997343"/>
                  </a:ext>
                </a:extLst>
              </a:tr>
              <a:tr h="767018">
                <a:tc>
                  <a:txBody>
                    <a:bodyPr/>
                    <a:lstStyle/>
                    <a:p>
                      <a:pPr algn="l" fontAlgn="ctr">
                        <a:buNone/>
                      </a:pPr>
                      <a:r>
                        <a:rPr lang="ja-JP" altLang="en-US" sz="2800" dirty="0"/>
                        <a:t> </a:t>
                      </a:r>
                      <a:r>
                        <a:rPr lang="en-US" altLang="ja-JP" sz="2800" dirty="0"/>
                        <a:t>Trust(</a:t>
                      </a:r>
                      <a:r>
                        <a:rPr lang="ja-JP" altLang="en-US" sz="2800" dirty="0"/>
                        <a:t>信頼</a:t>
                      </a:r>
                      <a:r>
                        <a:rPr lang="en-US" altLang="ja-JP" sz="2800" dirty="0"/>
                        <a:t>)</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934039">
                <a:tc>
                  <a:txBody>
                    <a:bodyPr/>
                    <a:lstStyle/>
                    <a:p>
                      <a:pPr algn="l" fontAlgn="ctr">
                        <a:buNone/>
                      </a:pPr>
                      <a:r>
                        <a:rPr lang="en-US" altLang="ja-JP" sz="2800" u="none" strike="noStrike" dirty="0">
                          <a:effectLst/>
                        </a:rPr>
                        <a:t> Fear(</a:t>
                      </a:r>
                      <a:r>
                        <a:rPr lang="ja-JP" altLang="en-US" sz="2800" u="none" strike="noStrike" dirty="0">
                          <a:effectLst/>
                        </a:rPr>
                        <a:t>恐怖）</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r h="1010216">
                <a:tc>
                  <a:txBody>
                    <a:bodyPr/>
                    <a:lstStyle/>
                    <a:p>
                      <a:pPr algn="l" fontAlgn="ctr">
                        <a:buNone/>
                      </a:pPr>
                      <a:r>
                        <a:rPr lang="en-US" altLang="ja-JP" sz="2800" u="none" strike="noStrike" dirty="0">
                          <a:effectLst/>
                        </a:rPr>
                        <a:t> Anxiety(</a:t>
                      </a:r>
                      <a:r>
                        <a:rPr lang="ja-JP" altLang="en-US" sz="2800" u="none" strike="noStrike" dirty="0">
                          <a:effectLst/>
                        </a:rPr>
                        <a:t>不安</a:t>
                      </a:r>
                      <a:r>
                        <a:rPr lang="en-US" altLang="ja-JP" sz="2800" u="none" strike="noStrike" dirty="0">
                          <a:effectLst/>
                        </a:rPr>
                        <a:t>)</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0370465"/>
                  </a:ext>
                </a:extLst>
              </a:tr>
            </a:tbl>
          </a:graphicData>
        </a:graphic>
      </p:graphicFrame>
    </p:spTree>
    <p:extLst>
      <p:ext uri="{BB962C8B-B14F-4D97-AF65-F5344CB8AC3E}">
        <p14:creationId xmlns:p14="http://schemas.microsoft.com/office/powerpoint/2010/main" val="363158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9B4F56-FBE8-3961-3C46-CB199AA5C9B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CC1A4E9-8E3A-8F33-E46B-82429244074D}"/>
              </a:ext>
            </a:extLst>
          </p:cNvPr>
          <p:cNvSpPr>
            <a:spLocks noGrp="1"/>
          </p:cNvSpPr>
          <p:nvPr>
            <p:ph type="title"/>
          </p:nvPr>
        </p:nvSpPr>
        <p:spPr>
          <a:xfrm>
            <a:off x="1363617" y="571624"/>
            <a:ext cx="8074815" cy="1618489"/>
          </a:xfrm>
        </p:spPr>
        <p:txBody>
          <a:bodyPr anchor="ctr">
            <a:normAutofit/>
          </a:bodyPr>
          <a:lstStyle/>
          <a:p>
            <a:pPr algn="ctr"/>
            <a:r>
              <a:rPr kumimoji="1" lang="ja-JP" altLang="en-US" sz="6000" dirty="0"/>
              <a:t>アルゴリズム</a:t>
            </a:r>
            <a:r>
              <a:rPr lang="ja-JP" altLang="en-US" sz="6000" dirty="0"/>
              <a:t>について</a:t>
            </a:r>
            <a:endParaRPr kumimoji="1" lang="ja-JP" altLang="en-US" sz="6000" dirty="0"/>
          </a:p>
        </p:txBody>
      </p:sp>
      <p:graphicFrame>
        <p:nvGraphicFramePr>
          <p:cNvPr id="13" name="表 12">
            <a:extLst>
              <a:ext uri="{FF2B5EF4-FFF2-40B4-BE49-F238E27FC236}">
                <a16:creationId xmlns:a16="http://schemas.microsoft.com/office/drawing/2014/main" id="{FE903091-85B2-129C-D7FE-A4F9FE5427B6}"/>
              </a:ext>
            </a:extLst>
          </p:cNvPr>
          <p:cNvGraphicFramePr>
            <a:graphicFrameLocks noGrp="1"/>
          </p:cNvGraphicFramePr>
          <p:nvPr>
            <p:extLst>
              <p:ext uri="{D42A27DB-BD31-4B8C-83A1-F6EECF244321}">
                <p14:modId xmlns:p14="http://schemas.microsoft.com/office/powerpoint/2010/main" val="1717133069"/>
              </p:ext>
            </p:extLst>
          </p:nvPr>
        </p:nvGraphicFramePr>
        <p:xfrm>
          <a:off x="8813687" y="2160630"/>
          <a:ext cx="2777223" cy="4515822"/>
        </p:xfrm>
        <a:graphic>
          <a:graphicData uri="http://schemas.openxmlformats.org/drawingml/2006/table">
            <a:tbl>
              <a:tblPr>
                <a:tableStyleId>{073A0DAA-6AF3-43AB-8588-CEC1D06C72B9}</a:tableStyleId>
              </a:tblPr>
              <a:tblGrid>
                <a:gridCol w="2777223">
                  <a:extLst>
                    <a:ext uri="{9D8B030D-6E8A-4147-A177-3AD203B41FA5}">
                      <a16:colId xmlns:a16="http://schemas.microsoft.com/office/drawing/2014/main" val="159393942"/>
                    </a:ext>
                  </a:extLst>
                </a:gridCol>
              </a:tblGrid>
              <a:tr h="815037">
                <a:tc>
                  <a:txBody>
                    <a:bodyPr/>
                    <a:lstStyle/>
                    <a:p>
                      <a:pPr algn="l" fontAlgn="ctr">
                        <a:buNone/>
                      </a:pPr>
                      <a:r>
                        <a:rPr lang="en-US" altLang="ja-JP" sz="2800" dirty="0"/>
                        <a:t> LGBM</a:t>
                      </a:r>
                      <a:r>
                        <a:rPr lang="ja-JP" altLang="en-US" sz="2800" dirty="0"/>
                        <a:t>の選定理由</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815037">
                <a:tc>
                  <a:txBody>
                    <a:bodyPr/>
                    <a:lstStyle/>
                    <a:p>
                      <a:pPr algn="l" fontAlgn="ctr">
                        <a:buNone/>
                      </a:pPr>
                      <a:r>
                        <a:rPr lang="ja-JP" altLang="en-US" sz="2800" dirty="0"/>
                        <a:t> 数値特徴量に強い</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963686">
                <a:tc>
                  <a:txBody>
                    <a:bodyPr/>
                    <a:lstStyle/>
                    <a:p>
                      <a:pPr algn="l" fontAlgn="ctr">
                        <a:buNone/>
                      </a:pPr>
                      <a:r>
                        <a:rPr lang="ja-JP" altLang="en-US" sz="2800" dirty="0"/>
                        <a:t> 少量データでも  動く</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r h="998797">
                <a:tc>
                  <a:txBody>
                    <a:bodyPr/>
                    <a:lstStyle/>
                    <a:p>
                      <a:pPr algn="l" fontAlgn="ctr">
                        <a:buNone/>
                      </a:pPr>
                      <a:r>
                        <a:rPr lang="ja-JP" altLang="en-US" sz="2800" dirty="0"/>
                        <a:t> 学習速度が速い</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0370465"/>
                  </a:ext>
                </a:extLst>
              </a:tr>
              <a:tr h="875337">
                <a:tc>
                  <a:txBody>
                    <a:bodyPr/>
                    <a:lstStyle/>
                    <a:p>
                      <a:pPr algn="l" fontAlgn="ctr">
                        <a:buNone/>
                      </a:pPr>
                      <a:r>
                        <a:rPr lang="ja-JP" altLang="en-US" sz="2800" dirty="0"/>
                        <a:t> 非線形関係を学べる</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14892"/>
                  </a:ext>
                </a:extLst>
              </a:tr>
            </a:tbl>
          </a:graphicData>
        </a:graphic>
      </p:graphicFrame>
      <p:graphicFrame>
        <p:nvGraphicFramePr>
          <p:cNvPr id="5" name="表 4">
            <a:extLst>
              <a:ext uri="{FF2B5EF4-FFF2-40B4-BE49-F238E27FC236}">
                <a16:creationId xmlns:a16="http://schemas.microsoft.com/office/drawing/2014/main" id="{AE9B09C5-ED3D-5FDA-073F-DB93A783BE38}"/>
              </a:ext>
            </a:extLst>
          </p:cNvPr>
          <p:cNvGraphicFramePr>
            <a:graphicFrameLocks noGrp="1"/>
          </p:cNvGraphicFramePr>
          <p:nvPr>
            <p:extLst>
              <p:ext uri="{D42A27DB-BD31-4B8C-83A1-F6EECF244321}">
                <p14:modId xmlns:p14="http://schemas.microsoft.com/office/powerpoint/2010/main" val="1804786111"/>
              </p:ext>
            </p:extLst>
          </p:nvPr>
        </p:nvGraphicFramePr>
        <p:xfrm>
          <a:off x="5843959" y="2166165"/>
          <a:ext cx="2969728" cy="4467894"/>
        </p:xfrm>
        <a:graphic>
          <a:graphicData uri="http://schemas.openxmlformats.org/drawingml/2006/table">
            <a:tbl>
              <a:tblPr>
                <a:tableStyleId>{073A0DAA-6AF3-43AB-8588-CEC1D06C72B9}</a:tableStyleId>
              </a:tblPr>
              <a:tblGrid>
                <a:gridCol w="2969728">
                  <a:extLst>
                    <a:ext uri="{9D8B030D-6E8A-4147-A177-3AD203B41FA5}">
                      <a16:colId xmlns:a16="http://schemas.microsoft.com/office/drawing/2014/main" val="159393942"/>
                    </a:ext>
                  </a:extLst>
                </a:gridCol>
              </a:tblGrid>
              <a:tr h="815037">
                <a:tc>
                  <a:txBody>
                    <a:bodyPr/>
                    <a:lstStyle/>
                    <a:p>
                      <a:pPr algn="l" fontAlgn="ctr">
                        <a:buNone/>
                      </a:pPr>
                      <a:r>
                        <a:rPr lang="ja-JP" altLang="en-US" sz="2800" u="none" strike="noStrike" dirty="0">
                          <a:effectLst/>
                        </a:rPr>
                        <a:t> 音楽的特徴</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815037">
                <a:tc>
                  <a:txBody>
                    <a:bodyPr/>
                    <a:lstStyle/>
                    <a:p>
                      <a:pPr algn="l" fontAlgn="ctr">
                        <a:buNone/>
                      </a:pPr>
                      <a:r>
                        <a:rPr lang="en-US" altLang="ja-JP" sz="2800" u="none" strike="noStrike" dirty="0">
                          <a:effectLst/>
                        </a:rPr>
                        <a:t> Motion(</a:t>
                      </a:r>
                      <a:r>
                        <a:rPr lang="ja-JP" altLang="en-US" sz="2800" u="none" strike="noStrike" dirty="0">
                          <a:effectLst/>
                        </a:rPr>
                        <a:t>動き</a:t>
                      </a:r>
                      <a:r>
                        <a:rPr lang="en-US" altLang="ja-JP" sz="2800" u="none" strike="noStrike" dirty="0">
                          <a:effectLst/>
                        </a:rPr>
                        <a:t>)</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963686">
                <a:tc>
                  <a:txBody>
                    <a:bodyPr/>
                    <a:lstStyle/>
                    <a:p>
                      <a:pPr algn="l" fontAlgn="ctr">
                        <a:buNone/>
                      </a:pPr>
                      <a:r>
                        <a:rPr lang="en-US" altLang="ja-JP" sz="2800" u="none" strike="noStrike" dirty="0">
                          <a:effectLst/>
                        </a:rPr>
                        <a:t> Density(</a:t>
                      </a:r>
                      <a:r>
                        <a:rPr lang="ja-JP" altLang="en-US" sz="2800" u="none" strike="noStrike" dirty="0">
                          <a:effectLst/>
                        </a:rPr>
                        <a:t>密度</a:t>
                      </a:r>
                      <a:r>
                        <a:rPr lang="en-US" altLang="ja-JP" sz="2800" u="none" strike="noStrike" dirty="0">
                          <a:effectLst/>
                        </a:rPr>
                        <a:t>)</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r h="998797">
                <a:tc>
                  <a:txBody>
                    <a:bodyPr/>
                    <a:lstStyle/>
                    <a:p>
                      <a:pPr algn="l" fontAlgn="ctr">
                        <a:buNone/>
                      </a:pPr>
                      <a:r>
                        <a:rPr lang="en-US" altLang="ja-JP" sz="2800" u="none" strike="noStrike" dirty="0">
                          <a:effectLst/>
                        </a:rPr>
                        <a:t> Order(</a:t>
                      </a:r>
                      <a:r>
                        <a:rPr lang="ja-JP" altLang="en-US" sz="2800" u="none" strike="noStrike" dirty="0">
                          <a:effectLst/>
                        </a:rPr>
                        <a:t>構造</a:t>
                      </a:r>
                      <a:r>
                        <a:rPr lang="en-US" altLang="ja-JP" sz="2800" u="none" strike="noStrike" dirty="0">
                          <a:effectLst/>
                        </a:rPr>
                        <a:t>)</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0370465"/>
                  </a:ext>
                </a:extLst>
              </a:tr>
              <a:tr h="875337">
                <a:tc>
                  <a:txBody>
                    <a:bodyPr/>
                    <a:lstStyle/>
                    <a:p>
                      <a:pPr algn="l" fontAlgn="ctr">
                        <a:buNone/>
                      </a:pPr>
                      <a:r>
                        <a:rPr lang="en-US" altLang="ja-JP" sz="2800" u="none" strike="noStrike" dirty="0">
                          <a:effectLst/>
                        </a:rPr>
                        <a:t> Rhythm(</a:t>
                      </a:r>
                      <a:r>
                        <a:rPr lang="ja-JP" altLang="en-US" sz="2800" u="none" strike="noStrike" dirty="0">
                          <a:effectLst/>
                        </a:rPr>
                        <a:t>リズム</a:t>
                      </a:r>
                      <a:r>
                        <a:rPr lang="en-US" altLang="ja-JP" sz="2800" u="none" strike="noStrike" dirty="0">
                          <a:effectLst/>
                        </a:rPr>
                        <a:t>)</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14892"/>
                  </a:ext>
                </a:extLst>
              </a:tr>
            </a:tbl>
          </a:graphicData>
        </a:graphic>
      </p:graphicFrame>
      <p:graphicFrame>
        <p:nvGraphicFramePr>
          <p:cNvPr id="6" name="表 5">
            <a:extLst>
              <a:ext uri="{FF2B5EF4-FFF2-40B4-BE49-F238E27FC236}">
                <a16:creationId xmlns:a16="http://schemas.microsoft.com/office/drawing/2014/main" id="{CC32230D-F851-A23D-E2A7-4F3B88B12772}"/>
              </a:ext>
            </a:extLst>
          </p:cNvPr>
          <p:cNvGraphicFramePr>
            <a:graphicFrameLocks noGrp="1"/>
          </p:cNvGraphicFramePr>
          <p:nvPr>
            <p:extLst>
              <p:ext uri="{D42A27DB-BD31-4B8C-83A1-F6EECF244321}">
                <p14:modId xmlns:p14="http://schemas.microsoft.com/office/powerpoint/2010/main" val="2184646310"/>
              </p:ext>
            </p:extLst>
          </p:nvPr>
        </p:nvGraphicFramePr>
        <p:xfrm>
          <a:off x="459159" y="2166165"/>
          <a:ext cx="5384800" cy="4467894"/>
        </p:xfrm>
        <a:graphic>
          <a:graphicData uri="http://schemas.openxmlformats.org/drawingml/2006/table">
            <a:tbl>
              <a:tblPr>
                <a:tableStyleId>{073A0DAA-6AF3-43AB-8588-CEC1D06C72B9}</a:tableStyleId>
              </a:tblPr>
              <a:tblGrid>
                <a:gridCol w="5384800">
                  <a:extLst>
                    <a:ext uri="{9D8B030D-6E8A-4147-A177-3AD203B41FA5}">
                      <a16:colId xmlns:a16="http://schemas.microsoft.com/office/drawing/2014/main" val="159393942"/>
                    </a:ext>
                  </a:extLst>
                </a:gridCol>
              </a:tblGrid>
              <a:tr h="815037">
                <a:tc>
                  <a:txBody>
                    <a:bodyPr/>
                    <a:lstStyle/>
                    <a:p>
                      <a:pPr algn="l" fontAlgn="ctr">
                        <a:buNone/>
                      </a:pPr>
                      <a:r>
                        <a:rPr lang="ja-JP" altLang="en-US" sz="2800" u="none" strike="noStrike" dirty="0">
                          <a:effectLst/>
                        </a:rPr>
                        <a:t> 処理</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53469068"/>
                  </a:ext>
                </a:extLst>
              </a:tr>
              <a:tr h="815037">
                <a:tc>
                  <a:txBody>
                    <a:bodyPr/>
                    <a:lstStyle/>
                    <a:p>
                      <a:pPr algn="l" fontAlgn="ctr">
                        <a:buNone/>
                      </a:pPr>
                      <a:r>
                        <a:rPr lang="en-US" altLang="ja-JP" sz="2800" u="none" strike="noStrike" dirty="0">
                          <a:effectLst/>
                        </a:rPr>
                        <a:t> </a:t>
                      </a:r>
                      <a:r>
                        <a:rPr lang="en-US" altLang="ja-JP" sz="2800" u="none" strike="noStrike" dirty="0" err="1">
                          <a:effectLst/>
                        </a:rPr>
                        <a:t>MusicXML</a:t>
                      </a:r>
                      <a:r>
                        <a:rPr lang="ja-JP" altLang="en-US" sz="2800" u="none" strike="noStrike" dirty="0">
                          <a:effectLst/>
                        </a:rPr>
                        <a:t>を</a:t>
                      </a:r>
                      <a:r>
                        <a:rPr lang="en-US" altLang="ja-JP" sz="2800" u="none" strike="noStrike" dirty="0">
                          <a:effectLst/>
                        </a:rPr>
                        <a:t>Music21</a:t>
                      </a:r>
                      <a:r>
                        <a:rPr lang="ja-JP" altLang="en-US" sz="2800" u="none" strike="noStrike" dirty="0">
                          <a:effectLst/>
                        </a:rPr>
                        <a:t>を用いて解析</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980872199"/>
                  </a:ext>
                </a:extLst>
              </a:tr>
              <a:tr h="963686">
                <a:tc>
                  <a:txBody>
                    <a:bodyPr/>
                    <a:lstStyle/>
                    <a:p>
                      <a:pPr algn="l" fontAlgn="ctr">
                        <a:buNone/>
                      </a:pPr>
                      <a:r>
                        <a:rPr lang="ja-JP" altLang="en-US" sz="2800" u="none" strike="noStrike" dirty="0">
                          <a:effectLst/>
                        </a:rPr>
                        <a:t> 特徴量を</a:t>
                      </a:r>
                      <a:r>
                        <a:rPr lang="en-US" altLang="ja-JP" sz="2800" u="none" strike="noStrike" dirty="0">
                          <a:effectLst/>
                        </a:rPr>
                        <a:t>CSV</a:t>
                      </a:r>
                      <a:r>
                        <a:rPr lang="ja-JP" altLang="en-US" sz="2800" u="none" strike="noStrike" dirty="0">
                          <a:effectLst/>
                        </a:rPr>
                        <a:t>に集積</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56017188"/>
                  </a:ext>
                </a:extLst>
              </a:tr>
              <a:tr h="998797">
                <a:tc>
                  <a:txBody>
                    <a:bodyPr/>
                    <a:lstStyle/>
                    <a:p>
                      <a:pPr algn="l" fontAlgn="ctr">
                        <a:buNone/>
                      </a:pPr>
                      <a:r>
                        <a:rPr lang="ja-JP" altLang="en-US" sz="2800" u="none" strike="noStrike" dirty="0">
                          <a:effectLst/>
                        </a:rPr>
                        <a:t> 特徴量から音楽的特徴を計算</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0370465"/>
                  </a:ext>
                </a:extLst>
              </a:tr>
              <a:tr h="875337">
                <a:tc>
                  <a:txBody>
                    <a:bodyPr/>
                    <a:lstStyle/>
                    <a:p>
                      <a:pPr algn="l" fontAlgn="ctr">
                        <a:buNone/>
                      </a:pPr>
                      <a:r>
                        <a:rPr lang="ja-JP" altLang="en-US" sz="2800" u="none" strike="noStrike" dirty="0">
                          <a:effectLst/>
                        </a:rPr>
                        <a:t> 音楽的特徴を閾値から</a:t>
                      </a:r>
                      <a:r>
                        <a:rPr lang="en-US" altLang="ja-JP" sz="2800" u="none" strike="noStrike" dirty="0">
                          <a:effectLst/>
                        </a:rPr>
                        <a:t>Low/Middle/High</a:t>
                      </a:r>
                      <a:r>
                        <a:rPr lang="ja-JP" altLang="en-US" sz="2800" u="none" strike="noStrike" dirty="0">
                          <a:effectLst/>
                        </a:rPr>
                        <a:t>にタグつけする</a:t>
                      </a:r>
                      <a:endParaRPr lang="ja-JP" altLang="en-US" sz="28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0414892"/>
                  </a:ext>
                </a:extLst>
              </a:tr>
            </a:tbl>
          </a:graphicData>
        </a:graphic>
      </p:graphicFrame>
    </p:spTree>
    <p:extLst>
      <p:ext uri="{BB962C8B-B14F-4D97-AF65-F5344CB8AC3E}">
        <p14:creationId xmlns:p14="http://schemas.microsoft.com/office/powerpoint/2010/main" val="427804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26CFA2-05F5-EDF7-03EF-D784C54F9D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9525B7C-76D2-FB88-417B-800751D7E1E8}"/>
              </a:ext>
            </a:extLst>
          </p:cNvPr>
          <p:cNvSpPr>
            <a:spLocks noGrp="1"/>
          </p:cNvSpPr>
          <p:nvPr>
            <p:ph type="title"/>
          </p:nvPr>
        </p:nvSpPr>
        <p:spPr>
          <a:xfrm>
            <a:off x="1285240" y="1050595"/>
            <a:ext cx="8074815" cy="1618489"/>
          </a:xfrm>
        </p:spPr>
        <p:txBody>
          <a:bodyPr anchor="ctr">
            <a:normAutofit/>
          </a:bodyPr>
          <a:lstStyle/>
          <a:p>
            <a:pPr algn="ctr"/>
            <a:r>
              <a:rPr kumimoji="1" lang="ja-JP" altLang="en-US" sz="6000" dirty="0"/>
              <a:t>制作スケジュール</a:t>
            </a:r>
          </a:p>
        </p:txBody>
      </p:sp>
      <p:sp>
        <p:nvSpPr>
          <p:cNvPr id="4" name="テキスト ボックス 3">
            <a:extLst>
              <a:ext uri="{FF2B5EF4-FFF2-40B4-BE49-F238E27FC236}">
                <a16:creationId xmlns:a16="http://schemas.microsoft.com/office/drawing/2014/main" id="{FCCA7EA8-DC3C-812C-28CE-DE960EFE166D}"/>
              </a:ext>
            </a:extLst>
          </p:cNvPr>
          <p:cNvSpPr txBox="1"/>
          <p:nvPr/>
        </p:nvSpPr>
        <p:spPr>
          <a:xfrm>
            <a:off x="2085981" y="2581422"/>
            <a:ext cx="7676328" cy="646331"/>
          </a:xfrm>
          <a:prstGeom prst="rect">
            <a:avLst/>
          </a:prstGeom>
          <a:noFill/>
        </p:spPr>
        <p:txBody>
          <a:bodyPr wrap="square" rtlCol="0">
            <a:spAutoFit/>
          </a:bodyPr>
          <a:lstStyle/>
          <a:p>
            <a:r>
              <a:rPr kumimoji="1" lang="en-US" altLang="ja-JP" dirty="0"/>
              <a:t>Unity</a:t>
            </a:r>
            <a:r>
              <a:rPr kumimoji="1" lang="ja-JP" altLang="en-US" dirty="0"/>
              <a:t>で表示と管理をし、</a:t>
            </a:r>
            <a:r>
              <a:rPr kumimoji="1" lang="en-US" altLang="ja-JP" dirty="0"/>
              <a:t>Python</a:t>
            </a:r>
            <a:r>
              <a:rPr kumimoji="1" lang="ja-JP" altLang="en-US" dirty="0"/>
              <a:t>で楽譜データの処理、再生をする</a:t>
            </a:r>
            <a:endParaRPr kumimoji="1" lang="en-US" altLang="ja-JP" dirty="0"/>
          </a:p>
          <a:p>
            <a:r>
              <a:rPr kumimoji="1" lang="ja-JP" altLang="en-US" dirty="0"/>
              <a:t>全体構成を計画。</a:t>
            </a:r>
          </a:p>
        </p:txBody>
      </p:sp>
      <p:sp>
        <p:nvSpPr>
          <p:cNvPr id="5" name="正方形/長方形 4">
            <a:extLst>
              <a:ext uri="{FF2B5EF4-FFF2-40B4-BE49-F238E27FC236}">
                <a16:creationId xmlns:a16="http://schemas.microsoft.com/office/drawing/2014/main" id="{B81D4DF6-D7E4-5DDC-4EFC-A79A932CB054}"/>
              </a:ext>
            </a:extLst>
          </p:cNvPr>
          <p:cNvSpPr/>
          <p:nvPr/>
        </p:nvSpPr>
        <p:spPr>
          <a:xfrm>
            <a:off x="1968137" y="2478690"/>
            <a:ext cx="7916091" cy="8152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6FEBEF86-22F4-893B-93A2-63943FC837D1}"/>
              </a:ext>
            </a:extLst>
          </p:cNvPr>
          <p:cNvSpPr txBox="1"/>
          <p:nvPr/>
        </p:nvSpPr>
        <p:spPr>
          <a:xfrm>
            <a:off x="1045306" y="2478690"/>
            <a:ext cx="731243" cy="646331"/>
          </a:xfrm>
          <a:prstGeom prst="rect">
            <a:avLst/>
          </a:prstGeom>
          <a:noFill/>
        </p:spPr>
        <p:txBody>
          <a:bodyPr wrap="square" rtlCol="0">
            <a:spAutoFit/>
          </a:bodyPr>
          <a:lstStyle/>
          <a:p>
            <a:r>
              <a:rPr kumimoji="1" lang="ja-JP" altLang="en-US" dirty="0"/>
              <a:t>  </a:t>
            </a:r>
            <a:r>
              <a:rPr kumimoji="1" lang="en-US" altLang="ja-JP" dirty="0"/>
              <a:t>9</a:t>
            </a:r>
            <a:r>
              <a:rPr kumimoji="1" lang="ja-JP" altLang="en-US" dirty="0"/>
              <a:t>月</a:t>
            </a:r>
            <a:br>
              <a:rPr kumimoji="1" lang="en-US" altLang="ja-JP" dirty="0"/>
            </a:br>
            <a:r>
              <a:rPr kumimoji="1" lang="en-US" altLang="ja-JP" dirty="0"/>
              <a:t>10</a:t>
            </a:r>
            <a:r>
              <a:rPr kumimoji="1" lang="ja-JP" altLang="en-US" dirty="0"/>
              <a:t>月</a:t>
            </a:r>
          </a:p>
        </p:txBody>
      </p:sp>
      <p:sp>
        <p:nvSpPr>
          <p:cNvPr id="7" name="テキスト ボックス 6">
            <a:extLst>
              <a:ext uri="{FF2B5EF4-FFF2-40B4-BE49-F238E27FC236}">
                <a16:creationId xmlns:a16="http://schemas.microsoft.com/office/drawing/2014/main" id="{6150B521-F5A9-4B04-24B2-7572CFA1C8BB}"/>
              </a:ext>
            </a:extLst>
          </p:cNvPr>
          <p:cNvSpPr txBox="1"/>
          <p:nvPr/>
        </p:nvSpPr>
        <p:spPr>
          <a:xfrm>
            <a:off x="2085981" y="3536403"/>
            <a:ext cx="7676328" cy="646331"/>
          </a:xfrm>
          <a:prstGeom prst="rect">
            <a:avLst/>
          </a:prstGeom>
          <a:noFill/>
        </p:spPr>
        <p:txBody>
          <a:bodyPr wrap="square" rtlCol="0">
            <a:spAutoFit/>
          </a:bodyPr>
          <a:lstStyle/>
          <a:p>
            <a:r>
              <a:rPr kumimoji="1" lang="en-US" altLang="ja-JP" dirty="0"/>
              <a:t>Python</a:t>
            </a:r>
            <a:r>
              <a:rPr kumimoji="1" lang="ja-JP" altLang="en-US" dirty="0"/>
              <a:t>を起動するための仮想環境</a:t>
            </a:r>
            <a:r>
              <a:rPr kumimoji="1" lang="en-US" altLang="ja-JP" dirty="0" err="1"/>
              <a:t>micromamba</a:t>
            </a:r>
            <a:r>
              <a:rPr kumimoji="1" lang="ja-JP" altLang="en-US" dirty="0"/>
              <a:t>について学習。</a:t>
            </a:r>
            <a:endParaRPr kumimoji="1" lang="en-US" altLang="ja-JP" dirty="0"/>
          </a:p>
          <a:p>
            <a:r>
              <a:rPr kumimoji="1" lang="en-US" altLang="ja-JP" dirty="0"/>
              <a:t>Unity</a:t>
            </a:r>
            <a:r>
              <a:rPr kumimoji="1" lang="ja-JP" altLang="en-US" dirty="0"/>
              <a:t>で起動できるように導入。</a:t>
            </a:r>
          </a:p>
        </p:txBody>
      </p:sp>
      <p:sp>
        <p:nvSpPr>
          <p:cNvPr id="8" name="正方形/長方形 7">
            <a:extLst>
              <a:ext uri="{FF2B5EF4-FFF2-40B4-BE49-F238E27FC236}">
                <a16:creationId xmlns:a16="http://schemas.microsoft.com/office/drawing/2014/main" id="{7D591E43-1382-94E5-860D-76379EB7E4EF}"/>
              </a:ext>
            </a:extLst>
          </p:cNvPr>
          <p:cNvSpPr/>
          <p:nvPr/>
        </p:nvSpPr>
        <p:spPr>
          <a:xfrm>
            <a:off x="1968137" y="3492982"/>
            <a:ext cx="7916091" cy="8152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テキスト ボックス 8">
            <a:extLst>
              <a:ext uri="{FF2B5EF4-FFF2-40B4-BE49-F238E27FC236}">
                <a16:creationId xmlns:a16="http://schemas.microsoft.com/office/drawing/2014/main" id="{548E707C-0B68-AEB3-DCFD-29032AE10C77}"/>
              </a:ext>
            </a:extLst>
          </p:cNvPr>
          <p:cNvSpPr txBox="1"/>
          <p:nvPr/>
        </p:nvSpPr>
        <p:spPr>
          <a:xfrm>
            <a:off x="1045306" y="3491609"/>
            <a:ext cx="731243" cy="369332"/>
          </a:xfrm>
          <a:prstGeom prst="rect">
            <a:avLst/>
          </a:prstGeom>
          <a:noFill/>
        </p:spPr>
        <p:txBody>
          <a:bodyPr wrap="square" rtlCol="0">
            <a:spAutoFit/>
          </a:bodyPr>
          <a:lstStyle/>
          <a:p>
            <a:r>
              <a:rPr kumimoji="1" lang="en-US" altLang="ja-JP" dirty="0"/>
              <a:t>11</a:t>
            </a:r>
            <a:r>
              <a:rPr kumimoji="1" lang="ja-JP" altLang="en-US" dirty="0"/>
              <a:t>月</a:t>
            </a:r>
          </a:p>
        </p:txBody>
      </p:sp>
      <p:sp>
        <p:nvSpPr>
          <p:cNvPr id="10" name="テキスト ボックス 9">
            <a:extLst>
              <a:ext uri="{FF2B5EF4-FFF2-40B4-BE49-F238E27FC236}">
                <a16:creationId xmlns:a16="http://schemas.microsoft.com/office/drawing/2014/main" id="{9915D18C-28B3-FB42-ACD4-6A1423806838}"/>
              </a:ext>
            </a:extLst>
          </p:cNvPr>
          <p:cNvSpPr txBox="1"/>
          <p:nvPr/>
        </p:nvSpPr>
        <p:spPr>
          <a:xfrm>
            <a:off x="2085981" y="4550695"/>
            <a:ext cx="7676328" cy="646331"/>
          </a:xfrm>
          <a:prstGeom prst="rect">
            <a:avLst/>
          </a:prstGeom>
          <a:noFill/>
        </p:spPr>
        <p:txBody>
          <a:bodyPr wrap="square" rtlCol="0">
            <a:spAutoFit/>
          </a:bodyPr>
          <a:lstStyle/>
          <a:p>
            <a:r>
              <a:rPr kumimoji="1" lang="ja-JP" altLang="en-US" dirty="0"/>
              <a:t>学習に用いる音楽データを収集。音楽データのラベル付けを実施。</a:t>
            </a:r>
            <a:br>
              <a:rPr kumimoji="1" lang="en-US" altLang="ja-JP" dirty="0"/>
            </a:br>
            <a:r>
              <a:rPr kumimoji="1" lang="ja-JP" altLang="en-US" dirty="0"/>
              <a:t>感情判定に用いるモデルを作成。</a:t>
            </a:r>
          </a:p>
        </p:txBody>
      </p:sp>
      <p:sp>
        <p:nvSpPr>
          <p:cNvPr id="11" name="正方形/長方形 10">
            <a:extLst>
              <a:ext uri="{FF2B5EF4-FFF2-40B4-BE49-F238E27FC236}">
                <a16:creationId xmlns:a16="http://schemas.microsoft.com/office/drawing/2014/main" id="{717B578A-4CE4-04B5-C86C-C353B78AE50A}"/>
              </a:ext>
            </a:extLst>
          </p:cNvPr>
          <p:cNvSpPr/>
          <p:nvPr/>
        </p:nvSpPr>
        <p:spPr>
          <a:xfrm>
            <a:off x="1968137" y="4505901"/>
            <a:ext cx="7916091" cy="81522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テキスト ボックス 11">
            <a:extLst>
              <a:ext uri="{FF2B5EF4-FFF2-40B4-BE49-F238E27FC236}">
                <a16:creationId xmlns:a16="http://schemas.microsoft.com/office/drawing/2014/main" id="{A25DEACA-8AA8-B690-3843-4CB043E2B5D3}"/>
              </a:ext>
            </a:extLst>
          </p:cNvPr>
          <p:cNvSpPr txBox="1"/>
          <p:nvPr/>
        </p:nvSpPr>
        <p:spPr>
          <a:xfrm>
            <a:off x="1045306" y="4504528"/>
            <a:ext cx="731243" cy="369332"/>
          </a:xfrm>
          <a:prstGeom prst="rect">
            <a:avLst/>
          </a:prstGeom>
          <a:noFill/>
        </p:spPr>
        <p:txBody>
          <a:bodyPr wrap="square" rtlCol="0">
            <a:spAutoFit/>
          </a:bodyPr>
          <a:lstStyle/>
          <a:p>
            <a:r>
              <a:rPr kumimoji="1" lang="en-US" altLang="ja-JP" dirty="0"/>
              <a:t>12</a:t>
            </a:r>
            <a:r>
              <a:rPr kumimoji="1" lang="ja-JP" altLang="en-US" dirty="0"/>
              <a:t>月</a:t>
            </a:r>
          </a:p>
        </p:txBody>
      </p:sp>
      <p:sp>
        <p:nvSpPr>
          <p:cNvPr id="16" name="テキスト ボックス 15">
            <a:extLst>
              <a:ext uri="{FF2B5EF4-FFF2-40B4-BE49-F238E27FC236}">
                <a16:creationId xmlns:a16="http://schemas.microsoft.com/office/drawing/2014/main" id="{BD77F8CF-3BF6-4DD2-8A25-DB08B7A12905}"/>
              </a:ext>
            </a:extLst>
          </p:cNvPr>
          <p:cNvSpPr txBox="1"/>
          <p:nvPr/>
        </p:nvSpPr>
        <p:spPr>
          <a:xfrm>
            <a:off x="2085981" y="5549593"/>
            <a:ext cx="7676328" cy="923330"/>
          </a:xfrm>
          <a:prstGeom prst="rect">
            <a:avLst/>
          </a:prstGeom>
          <a:noFill/>
        </p:spPr>
        <p:txBody>
          <a:bodyPr wrap="square" rtlCol="0">
            <a:spAutoFit/>
          </a:bodyPr>
          <a:lstStyle/>
          <a:p>
            <a:r>
              <a:rPr kumimoji="1" lang="en-US" altLang="ja-JP" dirty="0"/>
              <a:t>Unity</a:t>
            </a:r>
            <a:r>
              <a:rPr kumimoji="1" lang="ja-JP" altLang="en-US" dirty="0"/>
              <a:t>内で作成した楽譜を</a:t>
            </a:r>
            <a:r>
              <a:rPr kumimoji="1" lang="en-US" altLang="ja-JP" dirty="0"/>
              <a:t>Python</a:t>
            </a:r>
            <a:r>
              <a:rPr kumimoji="1" lang="ja-JP" altLang="en-US" dirty="0"/>
              <a:t>で</a:t>
            </a:r>
            <a:r>
              <a:rPr kumimoji="1" lang="en-US" altLang="ja-JP" dirty="0" err="1"/>
              <a:t>MusicXML</a:t>
            </a:r>
            <a:r>
              <a:rPr kumimoji="1" lang="ja-JP" altLang="en-US" dirty="0"/>
              <a:t>ファイルに変換し、再生する処理及び</a:t>
            </a:r>
            <a:r>
              <a:rPr kumimoji="1" lang="en-US" altLang="ja-JP" dirty="0" err="1"/>
              <a:t>MusicXML</a:t>
            </a:r>
            <a:r>
              <a:rPr kumimoji="1" lang="ja-JP" altLang="en-US" dirty="0"/>
              <a:t>ファイルから楽譜を取り出し、五線譜に配置する処理を追加。</a:t>
            </a:r>
          </a:p>
        </p:txBody>
      </p:sp>
      <p:sp>
        <p:nvSpPr>
          <p:cNvPr id="17" name="正方形/長方形 16">
            <a:extLst>
              <a:ext uri="{FF2B5EF4-FFF2-40B4-BE49-F238E27FC236}">
                <a16:creationId xmlns:a16="http://schemas.microsoft.com/office/drawing/2014/main" id="{E9E4A585-A35E-74A2-2821-CC84F3040AA2}"/>
              </a:ext>
            </a:extLst>
          </p:cNvPr>
          <p:cNvSpPr/>
          <p:nvPr/>
        </p:nvSpPr>
        <p:spPr>
          <a:xfrm>
            <a:off x="1968137" y="5511313"/>
            <a:ext cx="7916091" cy="96160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8" name="テキスト ボックス 17">
            <a:extLst>
              <a:ext uri="{FF2B5EF4-FFF2-40B4-BE49-F238E27FC236}">
                <a16:creationId xmlns:a16="http://schemas.microsoft.com/office/drawing/2014/main" id="{D4EC0A28-B6FD-2C3A-97B7-B103E6D4356E}"/>
              </a:ext>
            </a:extLst>
          </p:cNvPr>
          <p:cNvSpPr txBox="1"/>
          <p:nvPr/>
        </p:nvSpPr>
        <p:spPr>
          <a:xfrm>
            <a:off x="1045306" y="5549593"/>
            <a:ext cx="731243" cy="646331"/>
          </a:xfrm>
          <a:prstGeom prst="rect">
            <a:avLst/>
          </a:prstGeom>
          <a:noFill/>
        </p:spPr>
        <p:txBody>
          <a:bodyPr wrap="square" rtlCol="0">
            <a:spAutoFit/>
          </a:bodyPr>
          <a:lstStyle/>
          <a:p>
            <a:r>
              <a:rPr kumimoji="1" lang="ja-JP" altLang="en-US" dirty="0"/>
              <a:t> </a:t>
            </a:r>
            <a:r>
              <a:rPr kumimoji="1" lang="en-US" altLang="ja-JP" dirty="0"/>
              <a:t>1</a:t>
            </a:r>
            <a:r>
              <a:rPr kumimoji="1" lang="ja-JP" altLang="en-US" dirty="0"/>
              <a:t>月</a:t>
            </a:r>
            <a:endParaRPr kumimoji="1" lang="en-US" altLang="ja-JP" dirty="0"/>
          </a:p>
          <a:p>
            <a:r>
              <a:rPr kumimoji="1" lang="en-US" altLang="ja-JP" dirty="0"/>
              <a:t> 2</a:t>
            </a:r>
            <a:r>
              <a:rPr kumimoji="1" lang="ja-JP" altLang="en-US" dirty="0"/>
              <a:t>月</a:t>
            </a:r>
          </a:p>
        </p:txBody>
      </p:sp>
    </p:spTree>
    <p:extLst>
      <p:ext uri="{BB962C8B-B14F-4D97-AF65-F5344CB8AC3E}">
        <p14:creationId xmlns:p14="http://schemas.microsoft.com/office/powerpoint/2010/main" val="21222483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16B5BA-8D5D-D002-7628-9CB890544C3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5BBA8E4-A752-7878-204A-D61058599E32}"/>
              </a:ext>
            </a:extLst>
          </p:cNvPr>
          <p:cNvSpPr>
            <a:spLocks noGrp="1"/>
          </p:cNvSpPr>
          <p:nvPr>
            <p:ph type="title"/>
          </p:nvPr>
        </p:nvSpPr>
        <p:spPr>
          <a:xfrm>
            <a:off x="1285240" y="1050595"/>
            <a:ext cx="8074815" cy="1618489"/>
          </a:xfrm>
        </p:spPr>
        <p:txBody>
          <a:bodyPr anchor="ctr">
            <a:normAutofit/>
          </a:bodyPr>
          <a:lstStyle/>
          <a:p>
            <a:pPr algn="ctr"/>
            <a:r>
              <a:rPr kumimoji="1" lang="ja-JP" altLang="en-US" sz="6000" dirty="0"/>
              <a:t>結果</a:t>
            </a:r>
          </a:p>
        </p:txBody>
      </p:sp>
      <p:sp>
        <p:nvSpPr>
          <p:cNvPr id="3" name="コンテンツ プレースホルダー 2">
            <a:extLst>
              <a:ext uri="{FF2B5EF4-FFF2-40B4-BE49-F238E27FC236}">
                <a16:creationId xmlns:a16="http://schemas.microsoft.com/office/drawing/2014/main" id="{F4FE5BD3-3E66-552B-2027-8377C0FA016F}"/>
              </a:ext>
            </a:extLst>
          </p:cNvPr>
          <p:cNvSpPr>
            <a:spLocks noGrp="1"/>
          </p:cNvSpPr>
          <p:nvPr>
            <p:ph idx="1"/>
          </p:nvPr>
        </p:nvSpPr>
        <p:spPr>
          <a:xfrm>
            <a:off x="711200" y="2669084"/>
            <a:ext cx="9260114" cy="3760745"/>
          </a:xfrm>
        </p:spPr>
        <p:txBody>
          <a:bodyPr anchor="t">
            <a:normAutofit/>
          </a:bodyPr>
          <a:lstStyle/>
          <a:p>
            <a:pPr marL="0" indent="0">
              <a:buNone/>
            </a:pPr>
            <a:r>
              <a:rPr lang="ja-JP" altLang="en-US" sz="2800" dirty="0"/>
              <a:t>・五線譜に配置した音符から、</a:t>
            </a:r>
            <a:r>
              <a:rPr lang="en-US" altLang="ja-JP" sz="2800" dirty="0" err="1"/>
              <a:t>MusicXML</a:t>
            </a:r>
            <a:r>
              <a:rPr lang="ja-JP" altLang="en-US" sz="2800" dirty="0"/>
              <a:t>ファイルに</a:t>
            </a:r>
            <a:endParaRPr lang="en-US" altLang="ja-JP" sz="2800" dirty="0"/>
          </a:p>
          <a:p>
            <a:pPr marL="0" indent="0">
              <a:buNone/>
            </a:pPr>
            <a:r>
              <a:rPr lang="ja-JP" altLang="en-US" sz="2800" dirty="0"/>
              <a:t>変換する工程を作成した。</a:t>
            </a:r>
            <a:endParaRPr lang="en-US" altLang="ja-JP" sz="2800" dirty="0"/>
          </a:p>
          <a:p>
            <a:pPr marL="0" indent="0">
              <a:buNone/>
            </a:pPr>
            <a:r>
              <a:rPr lang="ja-JP" altLang="en-US" sz="2800" dirty="0"/>
              <a:t>・</a:t>
            </a:r>
            <a:r>
              <a:rPr lang="en-US" altLang="ja-JP" sz="2800" dirty="0" err="1"/>
              <a:t>MusicXML</a:t>
            </a:r>
            <a:r>
              <a:rPr lang="ja-JP" altLang="en-US" sz="2800" dirty="0"/>
              <a:t>から感情判定を行う事に成功した。</a:t>
            </a:r>
            <a:endParaRPr lang="en-US" altLang="ja-JP" sz="2800" dirty="0"/>
          </a:p>
          <a:p>
            <a:pPr marL="0" indent="0">
              <a:buNone/>
            </a:pPr>
            <a:r>
              <a:rPr lang="ja-JP" altLang="en-US" sz="2800" dirty="0"/>
              <a:t>・</a:t>
            </a:r>
            <a:r>
              <a:rPr lang="en-US" altLang="ja-JP" sz="2800" dirty="0"/>
              <a:t>C#</a:t>
            </a:r>
            <a:r>
              <a:rPr lang="ja-JP" altLang="en-US" sz="2800" dirty="0"/>
              <a:t>から仮想環境を動かす事に成功した。</a:t>
            </a:r>
            <a:endParaRPr lang="en-US" altLang="ja-JP" sz="2800" dirty="0"/>
          </a:p>
        </p:txBody>
      </p:sp>
    </p:spTree>
    <p:extLst>
      <p:ext uri="{BB962C8B-B14F-4D97-AF65-F5344CB8AC3E}">
        <p14:creationId xmlns:p14="http://schemas.microsoft.com/office/powerpoint/2010/main" val="20277746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02C121-BEBF-3614-D3E5-1126145A334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DF9FAAA-42E3-DC5B-8611-915A0B59EE48}"/>
              </a:ext>
            </a:extLst>
          </p:cNvPr>
          <p:cNvSpPr>
            <a:spLocks noGrp="1"/>
          </p:cNvSpPr>
          <p:nvPr>
            <p:ph type="title"/>
          </p:nvPr>
        </p:nvSpPr>
        <p:spPr>
          <a:xfrm>
            <a:off x="1285240" y="1050595"/>
            <a:ext cx="8074815" cy="1618489"/>
          </a:xfrm>
        </p:spPr>
        <p:txBody>
          <a:bodyPr anchor="ctr">
            <a:normAutofit/>
          </a:bodyPr>
          <a:lstStyle/>
          <a:p>
            <a:pPr algn="ctr"/>
            <a:r>
              <a:rPr lang="ja-JP" altLang="en-US" sz="6000" dirty="0"/>
              <a:t>課題・考察</a:t>
            </a:r>
            <a:endParaRPr kumimoji="1" lang="ja-JP" altLang="en-US" sz="6000" dirty="0"/>
          </a:p>
        </p:txBody>
      </p:sp>
      <p:sp>
        <p:nvSpPr>
          <p:cNvPr id="3" name="コンテンツ プレースホルダー 2">
            <a:extLst>
              <a:ext uri="{FF2B5EF4-FFF2-40B4-BE49-F238E27FC236}">
                <a16:creationId xmlns:a16="http://schemas.microsoft.com/office/drawing/2014/main" id="{7E56B6F6-501B-8275-BCE5-9BFCC1E40C40}"/>
              </a:ext>
            </a:extLst>
          </p:cNvPr>
          <p:cNvSpPr>
            <a:spLocks noGrp="1"/>
          </p:cNvSpPr>
          <p:nvPr>
            <p:ph idx="1"/>
          </p:nvPr>
        </p:nvSpPr>
        <p:spPr>
          <a:xfrm>
            <a:off x="711200" y="2669084"/>
            <a:ext cx="9260114" cy="3760745"/>
          </a:xfrm>
        </p:spPr>
        <p:txBody>
          <a:bodyPr anchor="t">
            <a:normAutofit/>
          </a:bodyPr>
          <a:lstStyle/>
          <a:p>
            <a:pPr>
              <a:buFont typeface="Wingdings" panose="05000000000000000000" pitchFamily="2" charset="2"/>
              <a:buChar char="l"/>
            </a:pPr>
            <a:r>
              <a:rPr lang="ja-JP" altLang="en-US" sz="2800" dirty="0"/>
              <a:t>そもそもの学習元の数が少なかった。</a:t>
            </a:r>
            <a:endParaRPr lang="en-US" altLang="ja-JP" sz="2800" dirty="0"/>
          </a:p>
          <a:p>
            <a:pPr lvl="1">
              <a:buFont typeface="Wingdings" panose="05000000000000000000" pitchFamily="2" charset="2"/>
              <a:buChar char="l"/>
            </a:pPr>
            <a:r>
              <a:rPr lang="ja-JP" altLang="en-US" sz="2400" dirty="0"/>
              <a:t>・約</a:t>
            </a:r>
            <a:r>
              <a:rPr lang="en-US" altLang="ja-JP" sz="2400" dirty="0"/>
              <a:t>30</a:t>
            </a:r>
            <a:r>
              <a:rPr lang="ja-JP" altLang="en-US" sz="2400" dirty="0"/>
              <a:t>曲からイントロ、サビ、間奏で</a:t>
            </a:r>
            <a:r>
              <a:rPr lang="en-US" altLang="ja-JP" sz="2400" dirty="0"/>
              <a:t>90</a:t>
            </a:r>
            <a:r>
              <a:rPr lang="ja-JP" altLang="en-US" sz="2400" dirty="0"/>
              <a:t>個ほど生成しそこから感情が判定できなかった物を省いた。</a:t>
            </a:r>
            <a:endParaRPr lang="en-US" altLang="ja-JP" sz="2600" dirty="0"/>
          </a:p>
          <a:p>
            <a:pPr>
              <a:buFont typeface="Wingdings" panose="05000000000000000000" pitchFamily="2" charset="2"/>
              <a:buChar char="l"/>
            </a:pPr>
            <a:r>
              <a:rPr lang="ja-JP" altLang="en-US" sz="2800" dirty="0"/>
              <a:t>感情をタグ付けした数に偏りがあり判定制度が微妙。</a:t>
            </a:r>
            <a:endParaRPr lang="en-US" altLang="ja-JP" sz="2800" dirty="0"/>
          </a:p>
          <a:p>
            <a:pPr>
              <a:buFont typeface="Wingdings" panose="05000000000000000000" pitchFamily="2" charset="2"/>
              <a:buChar char="l"/>
            </a:pPr>
            <a:r>
              <a:rPr lang="ja-JP" altLang="en-US" sz="2800" dirty="0"/>
              <a:t>技術的な問題で主旋律のみで感情判定モデルを生成したため、パートを問わず主旋律として扱っている。</a:t>
            </a:r>
            <a:endParaRPr lang="en-US" altLang="ja-JP" sz="2800" dirty="0"/>
          </a:p>
        </p:txBody>
      </p:sp>
    </p:spTree>
    <p:extLst>
      <p:ext uri="{BB962C8B-B14F-4D97-AF65-F5344CB8AC3E}">
        <p14:creationId xmlns:p14="http://schemas.microsoft.com/office/powerpoint/2010/main" val="37223332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871D37F-FD28-C9DC-9519-3E4BC0A6097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1B0D950-6A21-093F-BCA9-414BA9BF98C4}"/>
              </a:ext>
            </a:extLst>
          </p:cNvPr>
          <p:cNvSpPr>
            <a:spLocks noGrp="1"/>
          </p:cNvSpPr>
          <p:nvPr>
            <p:ph type="title"/>
          </p:nvPr>
        </p:nvSpPr>
        <p:spPr>
          <a:xfrm>
            <a:off x="1285240" y="1050595"/>
            <a:ext cx="8074815" cy="1618489"/>
          </a:xfrm>
        </p:spPr>
        <p:txBody>
          <a:bodyPr anchor="ctr">
            <a:normAutofit/>
          </a:bodyPr>
          <a:lstStyle/>
          <a:p>
            <a:pPr algn="ctr"/>
            <a:r>
              <a:rPr kumimoji="1" lang="ja-JP" altLang="en-US" sz="6000" dirty="0"/>
              <a:t>総評</a:t>
            </a:r>
          </a:p>
        </p:txBody>
      </p:sp>
      <p:sp>
        <p:nvSpPr>
          <p:cNvPr id="3" name="コンテンツ プレースホルダー 2">
            <a:extLst>
              <a:ext uri="{FF2B5EF4-FFF2-40B4-BE49-F238E27FC236}">
                <a16:creationId xmlns:a16="http://schemas.microsoft.com/office/drawing/2014/main" id="{B32E7216-1290-E539-FEF5-D01888BC2CD7}"/>
              </a:ext>
            </a:extLst>
          </p:cNvPr>
          <p:cNvSpPr>
            <a:spLocks noGrp="1"/>
          </p:cNvSpPr>
          <p:nvPr>
            <p:ph idx="1"/>
          </p:nvPr>
        </p:nvSpPr>
        <p:spPr>
          <a:xfrm>
            <a:off x="711200" y="2669084"/>
            <a:ext cx="9260114" cy="3760745"/>
          </a:xfrm>
        </p:spPr>
        <p:txBody>
          <a:bodyPr anchor="t">
            <a:normAutofit/>
          </a:bodyPr>
          <a:lstStyle/>
          <a:p>
            <a:r>
              <a:rPr lang="ja-JP" altLang="en-US" sz="2800" dirty="0"/>
              <a:t>音楽分析とゲーム進行を統合した。</a:t>
            </a:r>
            <a:endParaRPr lang="en-US" altLang="ja-JP" sz="2800" dirty="0"/>
          </a:p>
          <a:p>
            <a:r>
              <a:rPr lang="en-US" altLang="ja-JP" sz="2800" dirty="0" err="1"/>
              <a:t>MusicXML</a:t>
            </a:r>
            <a:r>
              <a:rPr lang="en-US" altLang="ja-JP" sz="2800" dirty="0"/>
              <a:t> → </a:t>
            </a:r>
            <a:r>
              <a:rPr lang="ja-JP" altLang="en-US" sz="2800" dirty="0"/>
              <a:t>感情 → ゲーム用のタグつけを実現できた</a:t>
            </a:r>
            <a:endParaRPr lang="en-US" altLang="ja-JP" sz="2800" dirty="0"/>
          </a:p>
          <a:p>
            <a:r>
              <a:rPr lang="ja-JP" altLang="en-US" sz="2800" dirty="0"/>
              <a:t>現在のモデルは主旋律のみを入力として生成・判定を行っているが、より音楽的な特徴を反映するため、今後は主旋律と副旋律の組み合わせを統合した判定手法へ拡張したい。</a:t>
            </a:r>
            <a:endParaRPr lang="en-US" altLang="ja-JP" sz="2800" dirty="0"/>
          </a:p>
          <a:p>
            <a:pPr marL="0" indent="0">
              <a:buNone/>
            </a:pPr>
            <a:endParaRPr lang="en-US" altLang="ja-JP" sz="2800" dirty="0"/>
          </a:p>
        </p:txBody>
      </p:sp>
    </p:spTree>
    <p:extLst>
      <p:ext uri="{BB962C8B-B14F-4D97-AF65-F5344CB8AC3E}">
        <p14:creationId xmlns:p14="http://schemas.microsoft.com/office/powerpoint/2010/main" val="3490763829"/>
      </p:ext>
    </p:extLst>
  </p:cSld>
  <p:clrMapOvr>
    <a:masterClrMapping/>
  </p:clrMapOvr>
</p:sld>
</file>

<file path=ppt/theme/theme1.xml><?xml version="1.0" encoding="utf-8"?>
<a:theme xmlns:a="http://schemas.openxmlformats.org/drawingml/2006/main" name="ファセット">
  <a:themeElements>
    <a:clrScheme name="ファセット">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ファセット">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ファセット">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
  <TotalTime>3302</TotalTime>
  <Words>963</Words>
  <Application>Microsoft Office PowerPoint</Application>
  <PresentationFormat>ワイド画面</PresentationFormat>
  <Paragraphs>135</Paragraphs>
  <Slides>14</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14</vt:i4>
      </vt:variant>
    </vt:vector>
  </HeadingPairs>
  <TitlesOfParts>
    <vt:vector size="20" baseType="lpstr">
      <vt:lpstr>游ゴシック</vt:lpstr>
      <vt:lpstr>Arial</vt:lpstr>
      <vt:lpstr>Trebuchet MS</vt:lpstr>
      <vt:lpstr>Wingdings</vt:lpstr>
      <vt:lpstr>Wingdings 3</vt:lpstr>
      <vt:lpstr>ファセット</vt:lpstr>
      <vt:lpstr>短い楽曲フレーズにおける感情測定</vt:lpstr>
      <vt:lpstr>概要</vt:lpstr>
      <vt:lpstr>目的</vt:lpstr>
      <vt:lpstr>システム概要</vt:lpstr>
      <vt:lpstr>全体構成</vt:lpstr>
      <vt:lpstr>仮想環境について</vt:lpstr>
      <vt:lpstr>音符と五線譜について</vt:lpstr>
      <vt:lpstr>学習についての概要</vt:lpstr>
      <vt:lpstr>学習手法について</vt:lpstr>
      <vt:lpstr>アルゴリズムについて</vt:lpstr>
      <vt:lpstr>制作スケジュール</vt:lpstr>
      <vt:lpstr>結果</vt:lpstr>
      <vt:lpstr>課題・考察</vt:lpstr>
      <vt:lpstr>総評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時永 洋輔</dc:creator>
  <cp:lastModifiedBy>洋輔 時永</cp:lastModifiedBy>
  <cp:revision>28</cp:revision>
  <dcterms:created xsi:type="dcterms:W3CDTF">2026-02-12T00:32:25Z</dcterms:created>
  <dcterms:modified xsi:type="dcterms:W3CDTF">2026-02-17T18:44:25Z</dcterms:modified>
</cp:coreProperties>
</file>